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Montserrat"/>
      <p:regular r:id="rId10"/>
      <p:bold r:id="rId11"/>
      <p:italic r:id="rId12"/>
      <p:boldItalic r:id="rId13"/>
    </p:embeddedFont>
    <p:embeddedFont>
      <p:font typeface="Lat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Montserrat-bold.fntdata"/><Relationship Id="rId10" Type="http://schemas.openxmlformats.org/officeDocument/2006/relationships/font" Target="fonts/Montserrat-regular.fntdata"/><Relationship Id="rId13" Type="http://schemas.openxmlformats.org/officeDocument/2006/relationships/font" Target="fonts/Montserrat-boldItalic.fntdata"/><Relationship Id="rId12" Type="http://schemas.openxmlformats.org/officeDocument/2006/relationships/font" Target="fonts/Montserrat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Lato-bold.fntdata"/><Relationship Id="rId14" Type="http://schemas.openxmlformats.org/officeDocument/2006/relationships/font" Target="fonts/Lato-regular.fntdata"/><Relationship Id="rId17" Type="http://schemas.openxmlformats.org/officeDocument/2006/relationships/font" Target="fonts/Lato-boldItalic.fntdata"/><Relationship Id="rId16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4dfec8aaef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4dfec8aaef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72ed834d3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72ed834d3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72ed834d3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72ed834d3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Lab. de Software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05/08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idx="1" type="body"/>
          </p:nvPr>
        </p:nvSpPr>
        <p:spPr>
          <a:xfrm>
            <a:off x="1618300" y="691575"/>
            <a:ext cx="7038900" cy="40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Char char="●"/>
            </a:pPr>
            <a:r>
              <a:rPr lang="pt-BR" sz="1200">
                <a:latin typeface="Montserrat"/>
                <a:ea typeface="Montserrat"/>
                <a:cs typeface="Montserrat"/>
                <a:sym typeface="Montserrat"/>
              </a:rPr>
              <a:t>Correção de Falhas no Sistema de Arquivo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00"/>
              <a:buFont typeface="Montserrat"/>
              <a:buChar char="○"/>
            </a:pPr>
            <a:r>
              <a:rPr lang="pt-BR" sz="1200">
                <a:latin typeface="Montserrat"/>
                <a:ea typeface="Montserrat"/>
                <a:cs typeface="Montserrat"/>
                <a:sym typeface="Montserrat"/>
              </a:rPr>
              <a:t>Tipos de erros comuns (corrupção, setores defeituosos)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00"/>
              <a:buFont typeface="Montserrat"/>
              <a:buChar char="○"/>
            </a:pPr>
            <a:r>
              <a:rPr lang="pt-BR" sz="1200">
                <a:latin typeface="Montserrat"/>
                <a:ea typeface="Montserrat"/>
                <a:cs typeface="Montserrat"/>
                <a:sym typeface="Montserrat"/>
              </a:rPr>
              <a:t>Ferramentas de verificação e reparo (SFC, CHKDSK, fsck)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00"/>
              <a:buFont typeface="Montserrat"/>
              <a:buChar char="○"/>
            </a:pPr>
            <a:r>
              <a:rPr lang="pt-BR" sz="1200">
                <a:latin typeface="Montserrat"/>
                <a:ea typeface="Montserrat"/>
                <a:cs typeface="Montserrat"/>
                <a:sym typeface="Montserrat"/>
              </a:rPr>
              <a:t>Diagnóstico e prevenção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00"/>
              <a:buFont typeface="Montserrat"/>
              <a:buChar char="●"/>
            </a:pPr>
            <a:r>
              <a:rPr lang="pt-BR" sz="1200">
                <a:latin typeface="Montserrat"/>
                <a:ea typeface="Montserrat"/>
                <a:cs typeface="Montserrat"/>
                <a:sym typeface="Montserrat"/>
              </a:rPr>
              <a:t>Criação e Execução de Máquinas Virtuais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00"/>
              <a:buFont typeface="Montserrat"/>
              <a:buChar char="○"/>
            </a:pPr>
            <a:r>
              <a:rPr lang="pt-BR" sz="1200">
                <a:latin typeface="Montserrat"/>
                <a:ea typeface="Montserrat"/>
                <a:cs typeface="Montserrat"/>
                <a:sym typeface="Montserrat"/>
              </a:rPr>
              <a:t>Conceito de virtualização e hipervisores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00"/>
              <a:buFont typeface="Montserrat"/>
              <a:buChar char="○"/>
            </a:pPr>
            <a:r>
              <a:rPr lang="pt-BR" sz="1200">
                <a:latin typeface="Montserrat"/>
                <a:ea typeface="Montserrat"/>
                <a:cs typeface="Montserrat"/>
                <a:sym typeface="Montserrat"/>
              </a:rPr>
              <a:t>Instalação e configuração de VMs (VirtualBox, VMware)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00"/>
              <a:buFont typeface="Montserrat"/>
              <a:buChar char="○"/>
            </a:pPr>
            <a:r>
              <a:rPr lang="pt-BR" sz="1200">
                <a:latin typeface="Montserrat"/>
                <a:ea typeface="Montserrat"/>
                <a:cs typeface="Montserrat"/>
                <a:sym typeface="Montserrat"/>
              </a:rPr>
              <a:t>Aplicações práticas e segurança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00"/>
              <a:buFont typeface="Montserrat"/>
              <a:buChar char="●"/>
            </a:pPr>
            <a:r>
              <a:rPr lang="pt-BR" sz="1200">
                <a:latin typeface="Montserrat"/>
                <a:ea typeface="Montserrat"/>
                <a:cs typeface="Montserrat"/>
                <a:sym typeface="Montserrat"/>
              </a:rPr>
              <a:t>Linha de Comando e Permissões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00"/>
              <a:buFont typeface="Montserrat"/>
              <a:buChar char="○"/>
            </a:pPr>
            <a:r>
              <a:rPr lang="pt-BR" sz="1200">
                <a:latin typeface="Montserrat"/>
                <a:ea typeface="Montserrat"/>
                <a:cs typeface="Montserrat"/>
                <a:sym typeface="Montserrat"/>
              </a:rPr>
              <a:t>Comandos básicos (cd, ls, mkdir, rm, etc.)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00"/>
              <a:buFont typeface="Montserrat"/>
              <a:buChar char="○"/>
            </a:pPr>
            <a:r>
              <a:rPr lang="pt-BR" sz="1200">
                <a:latin typeface="Montserrat"/>
                <a:ea typeface="Montserrat"/>
                <a:cs typeface="Montserrat"/>
                <a:sym typeface="Montserrat"/>
              </a:rPr>
              <a:t>Gerenciamento de permissões (chmod, chown, icacls)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1" marL="91440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000"/>
              <a:buFont typeface="Montserrat"/>
              <a:buChar char="○"/>
            </a:pPr>
            <a:r>
              <a:rPr lang="pt-BR" sz="1200">
                <a:latin typeface="Montserrat"/>
                <a:ea typeface="Montserrat"/>
                <a:cs typeface="Montserrat"/>
                <a:sym typeface="Montserrat"/>
              </a:rPr>
              <a:t>Privilégios administrativos e segurança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1" name="Google Shape;141;p14"/>
          <p:cNvSpPr txBox="1"/>
          <p:nvPr>
            <p:ph type="title"/>
          </p:nvPr>
        </p:nvSpPr>
        <p:spPr>
          <a:xfrm>
            <a:off x="1297500" y="61075"/>
            <a:ext cx="7038900" cy="58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Conteúdos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idx="1" type="body"/>
          </p:nvPr>
        </p:nvSpPr>
        <p:spPr>
          <a:xfrm>
            <a:off x="1071600" y="1069325"/>
            <a:ext cx="8072400" cy="27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latin typeface="Montserrat"/>
                <a:ea typeface="Montserrat"/>
                <a:cs typeface="Montserrat"/>
                <a:sym typeface="Montserrat"/>
              </a:rPr>
              <a:t>Tipos de Erros Comuns em Sistemas de Arquivos</a:t>
            </a:r>
            <a:endParaRPr b="1"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Montserrat"/>
              <a:buChar char="●"/>
            </a:pPr>
            <a:r>
              <a:rPr lang="pt-BR" sz="1400">
                <a:latin typeface="Montserrat"/>
                <a:ea typeface="Montserrat"/>
                <a:cs typeface="Montserrat"/>
                <a:sym typeface="Montserrat"/>
              </a:rPr>
              <a:t>Corrupção de arquivos: Pode ocorrer por desligamentos inesperados, falhas de energia, bugs de software ou manuseio inadequado.</a:t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Montserrat"/>
              <a:buChar char="●"/>
            </a:pPr>
            <a:r>
              <a:rPr lang="pt-BR" sz="1400">
                <a:latin typeface="Montserrat"/>
                <a:ea typeface="Montserrat"/>
                <a:cs typeface="Montserrat"/>
                <a:sym typeface="Montserrat"/>
              </a:rPr>
              <a:t>Setores defeituosos (bad sectors): Áreas físicas danificadas no disco que impedem a leitura ou gravação de dados. Comuns em HDs antigos ou SSDs desgastados.</a:t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Montserrat"/>
              <a:buChar char="●"/>
            </a:pPr>
            <a:r>
              <a:rPr lang="pt-BR" sz="1400">
                <a:latin typeface="Montserrat"/>
                <a:ea typeface="Montserrat"/>
                <a:cs typeface="Montserrat"/>
                <a:sym typeface="Montserrat"/>
              </a:rPr>
              <a:t>Falhas de hardware: Problemas em discos rígidos, SSDs ou controladores que afetam a integridade do sistema de arquivos.</a:t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200"/>
              <a:buFont typeface="Montserrat"/>
              <a:buChar char="●"/>
            </a:pPr>
            <a:r>
              <a:rPr lang="pt-BR" sz="1400">
                <a:latin typeface="Montserrat"/>
                <a:ea typeface="Montserrat"/>
                <a:cs typeface="Montserrat"/>
                <a:sym typeface="Montserrat"/>
              </a:rPr>
              <a:t>Erros de software: Bugs em drivers ou no sistema operacional que causam corrupção de metadados ou estruturas internas.</a:t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6"/>
          <p:cNvSpPr txBox="1"/>
          <p:nvPr>
            <p:ph idx="1" type="body"/>
          </p:nvPr>
        </p:nvSpPr>
        <p:spPr>
          <a:xfrm>
            <a:off x="1071600" y="288725"/>
            <a:ext cx="8072400" cy="16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latin typeface="Montserrat"/>
                <a:ea typeface="Montserrat"/>
                <a:cs typeface="Montserrat"/>
                <a:sym typeface="Montserrat"/>
              </a:rPr>
              <a:t>Ferramentas de Verificação e Reparo</a:t>
            </a:r>
            <a:endParaRPr b="1"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400">
                <a:latin typeface="Montserrat"/>
                <a:ea typeface="Montserrat"/>
                <a:cs typeface="Montserrat"/>
                <a:sym typeface="Montserrat"/>
              </a:rPr>
              <a:t>No Windows, recomenda-se executar primeiro o DISM (DISM.exe /Online /Cleanup-image /Restorehealth) antes do SFC para garantir que os arquivos de reparo estejam disponíveis.</a:t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52" name="Google Shape;15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950" y="2167300"/>
            <a:ext cx="8420100" cy="280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