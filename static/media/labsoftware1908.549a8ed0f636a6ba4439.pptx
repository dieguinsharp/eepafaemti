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Montserrat"/>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6.xml"/><Relationship Id="rId22" Type="http://schemas.openxmlformats.org/officeDocument/2006/relationships/font" Target="fonts/Lato-italic.fntdata"/><Relationship Id="rId10" Type="http://schemas.openxmlformats.org/officeDocument/2006/relationships/slide" Target="slides/slide5.xml"/><Relationship Id="rId21"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Montserrat-bold.fntdata"/><Relationship Id="rId16" Type="http://schemas.openxmlformats.org/officeDocument/2006/relationships/font" Target="fonts/Montserrat-regular.fntdata"/><Relationship Id="rId5" Type="http://schemas.openxmlformats.org/officeDocument/2006/relationships/notesMaster" Target="notesMasters/notesMaster1.xml"/><Relationship Id="rId19" Type="http://schemas.openxmlformats.org/officeDocument/2006/relationships/font" Target="fonts/Montserrat-boldItalic.fntdata"/><Relationship Id="rId6" Type="http://schemas.openxmlformats.org/officeDocument/2006/relationships/slide" Target="slides/slide1.xml"/><Relationship Id="rId18"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4dfec8aae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4dfec8aaef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647e980c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647e980c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647e980c3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647e980c3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647e980c3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647e980c3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647e980c3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647e980c3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647e980c3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647e980c3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647e980c3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647e980c3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647e980c3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647e980c3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647e980c3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647e980c3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Lab. de Software</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t-BR"/>
              <a:t>19/08</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idx="1" type="body"/>
          </p:nvPr>
        </p:nvSpPr>
        <p:spPr>
          <a:xfrm>
            <a:off x="1618300" y="691575"/>
            <a:ext cx="7038900" cy="923400"/>
          </a:xfrm>
          <a:prstGeom prst="rect">
            <a:avLst/>
          </a:prstGeom>
        </p:spPr>
        <p:txBody>
          <a:bodyPr anchorCtr="0" anchor="t" bIns="91425" lIns="91425" spcFirstLastPara="1" rIns="91425" wrap="square" tIns="91425">
            <a:spAutoFit/>
          </a:bodyPr>
          <a:lstStyle/>
          <a:p>
            <a:pPr indent="457200" lvl="0" marL="0" rtl="0" algn="l">
              <a:lnSpc>
                <a:spcPct val="100000"/>
              </a:lnSpc>
              <a:spcBef>
                <a:spcPts val="0"/>
              </a:spcBef>
              <a:spcAft>
                <a:spcPts val="1200"/>
              </a:spcAft>
              <a:buNone/>
            </a:pPr>
            <a:r>
              <a:rPr lang="pt-BR" sz="1200">
                <a:latin typeface="Montserrat"/>
                <a:ea typeface="Montserrat"/>
                <a:cs typeface="Montserrat"/>
                <a:sym typeface="Montserrat"/>
              </a:rPr>
              <a:t>A virtualização é uma tecnologia que permite criar uma versão virtual de um recurso físico, como servidores, sistemas operacionais, armazenamento ou redes. No contexto de máquinas virtuais (VMs), ela permite executar múltiplos sistemas operacionais simultaneamente em um único hardware físico.</a:t>
            </a:r>
            <a:endParaRPr sz="1200">
              <a:latin typeface="Montserrat"/>
              <a:ea typeface="Montserrat"/>
              <a:cs typeface="Montserrat"/>
              <a:sym typeface="Montserrat"/>
            </a:endParaRPr>
          </a:p>
        </p:txBody>
      </p:sp>
      <p:sp>
        <p:nvSpPr>
          <p:cNvPr id="141" name="Google Shape;141;p14"/>
          <p:cNvSpPr txBox="1"/>
          <p:nvPr>
            <p:ph type="title"/>
          </p:nvPr>
        </p:nvSpPr>
        <p:spPr>
          <a:xfrm>
            <a:off x="1297500" y="61075"/>
            <a:ext cx="7038900" cy="58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t-BR"/>
              <a:t>Virtualização - Máquina Virtual</a:t>
            </a:r>
            <a:endParaRPr/>
          </a:p>
        </p:txBody>
      </p:sp>
      <p:pic>
        <p:nvPicPr>
          <p:cNvPr id="142" name="Google Shape;142;p14"/>
          <p:cNvPicPr preferRelativeResize="0"/>
          <p:nvPr/>
        </p:nvPicPr>
        <p:blipFill>
          <a:blip r:embed="rId3">
            <a:alphaModFix/>
          </a:blip>
          <a:stretch>
            <a:fillRect/>
          </a:stretch>
        </p:blipFill>
        <p:spPr>
          <a:xfrm>
            <a:off x="2399150" y="1723100"/>
            <a:ext cx="4835589" cy="32237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idx="1" type="body"/>
          </p:nvPr>
        </p:nvSpPr>
        <p:spPr>
          <a:xfrm>
            <a:off x="1618300" y="691575"/>
            <a:ext cx="7038900" cy="923400"/>
          </a:xfrm>
          <a:prstGeom prst="rect">
            <a:avLst/>
          </a:prstGeom>
        </p:spPr>
        <p:txBody>
          <a:bodyPr anchorCtr="0" anchor="t" bIns="91425" lIns="91425" spcFirstLastPara="1" rIns="91425" wrap="square" tIns="91425">
            <a:spAutoFit/>
          </a:bodyPr>
          <a:lstStyle/>
          <a:p>
            <a:pPr indent="-304800" lvl="0" marL="457200" rtl="0" algn="l">
              <a:lnSpc>
                <a:spcPct val="100000"/>
              </a:lnSpc>
              <a:spcBef>
                <a:spcPts val="0"/>
              </a:spcBef>
              <a:spcAft>
                <a:spcPts val="0"/>
              </a:spcAft>
              <a:buSzPts val="1200"/>
              <a:buFont typeface="Montserrat"/>
              <a:buChar char="●"/>
            </a:pPr>
            <a:r>
              <a:rPr lang="pt-BR" sz="1200">
                <a:latin typeface="Montserrat"/>
                <a:ea typeface="Montserrat"/>
                <a:cs typeface="Montserrat"/>
                <a:sym typeface="Montserrat"/>
              </a:rPr>
              <a:t>Isolamento entre sistemas</a:t>
            </a:r>
            <a:endParaRPr sz="1200">
              <a:latin typeface="Montserrat"/>
              <a:ea typeface="Montserrat"/>
              <a:cs typeface="Montserrat"/>
              <a:sym typeface="Montserrat"/>
            </a:endParaRPr>
          </a:p>
          <a:p>
            <a:pPr indent="-304800" lvl="0" marL="457200" rtl="0" algn="l">
              <a:lnSpc>
                <a:spcPct val="100000"/>
              </a:lnSpc>
              <a:spcBef>
                <a:spcPts val="0"/>
              </a:spcBef>
              <a:spcAft>
                <a:spcPts val="0"/>
              </a:spcAft>
              <a:buSzPts val="1200"/>
              <a:buFont typeface="Montserrat"/>
              <a:buChar char="●"/>
            </a:pPr>
            <a:r>
              <a:rPr lang="pt-BR" sz="1200">
                <a:latin typeface="Montserrat"/>
                <a:ea typeface="Montserrat"/>
                <a:cs typeface="Montserrat"/>
                <a:sym typeface="Montserrat"/>
              </a:rPr>
              <a:t>Melhor aproveitamento de recursos</a:t>
            </a:r>
            <a:endParaRPr sz="1200">
              <a:latin typeface="Montserrat"/>
              <a:ea typeface="Montserrat"/>
              <a:cs typeface="Montserrat"/>
              <a:sym typeface="Montserrat"/>
            </a:endParaRPr>
          </a:p>
          <a:p>
            <a:pPr indent="-304800" lvl="0" marL="457200" rtl="0" algn="l">
              <a:lnSpc>
                <a:spcPct val="100000"/>
              </a:lnSpc>
              <a:spcBef>
                <a:spcPts val="0"/>
              </a:spcBef>
              <a:spcAft>
                <a:spcPts val="0"/>
              </a:spcAft>
              <a:buSzPts val="1200"/>
              <a:buFont typeface="Montserrat"/>
              <a:buChar char="●"/>
            </a:pPr>
            <a:r>
              <a:rPr lang="pt-BR" sz="1200">
                <a:latin typeface="Montserrat"/>
                <a:ea typeface="Montserrat"/>
                <a:cs typeface="Montserrat"/>
                <a:sym typeface="Montserrat"/>
              </a:rPr>
              <a:t>Facilidade de testes e desenvolvimento</a:t>
            </a:r>
            <a:endParaRPr sz="1200">
              <a:latin typeface="Montserrat"/>
              <a:ea typeface="Montserrat"/>
              <a:cs typeface="Montserrat"/>
              <a:sym typeface="Montserrat"/>
            </a:endParaRPr>
          </a:p>
          <a:p>
            <a:pPr indent="-304800" lvl="0" marL="457200" rtl="0" algn="l">
              <a:lnSpc>
                <a:spcPct val="100000"/>
              </a:lnSpc>
              <a:spcBef>
                <a:spcPts val="0"/>
              </a:spcBef>
              <a:spcAft>
                <a:spcPts val="0"/>
              </a:spcAft>
              <a:buSzPts val="1200"/>
              <a:buFont typeface="Montserrat"/>
              <a:buChar char="●"/>
            </a:pPr>
            <a:r>
              <a:rPr lang="pt-BR" sz="1200">
                <a:latin typeface="Montserrat"/>
                <a:ea typeface="Montserrat"/>
                <a:cs typeface="Montserrat"/>
                <a:sym typeface="Montserrat"/>
              </a:rPr>
              <a:t>Redução de custos com infraestrutura</a:t>
            </a:r>
            <a:endParaRPr sz="1200">
              <a:latin typeface="Montserrat"/>
              <a:ea typeface="Montserrat"/>
              <a:cs typeface="Montserrat"/>
              <a:sym typeface="Montserrat"/>
            </a:endParaRPr>
          </a:p>
        </p:txBody>
      </p:sp>
      <p:sp>
        <p:nvSpPr>
          <p:cNvPr id="148" name="Google Shape;148;p15"/>
          <p:cNvSpPr txBox="1"/>
          <p:nvPr>
            <p:ph type="title"/>
          </p:nvPr>
        </p:nvSpPr>
        <p:spPr>
          <a:xfrm>
            <a:off x="1297500" y="61075"/>
            <a:ext cx="7038900" cy="58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t-BR"/>
              <a:t>Virtualização - Máquina Virtual - Vantagens</a:t>
            </a:r>
            <a:endParaRPr/>
          </a:p>
        </p:txBody>
      </p:sp>
      <p:pic>
        <p:nvPicPr>
          <p:cNvPr id="149" name="Google Shape;149;p15"/>
          <p:cNvPicPr preferRelativeResize="0"/>
          <p:nvPr/>
        </p:nvPicPr>
        <p:blipFill>
          <a:blip r:embed="rId3">
            <a:alphaModFix/>
          </a:blip>
          <a:stretch>
            <a:fillRect/>
          </a:stretch>
        </p:blipFill>
        <p:spPr>
          <a:xfrm>
            <a:off x="2230400" y="1760000"/>
            <a:ext cx="4835589" cy="32237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6"/>
          <p:cNvSpPr txBox="1"/>
          <p:nvPr>
            <p:ph idx="1" type="body"/>
          </p:nvPr>
        </p:nvSpPr>
        <p:spPr>
          <a:xfrm>
            <a:off x="83375" y="1045800"/>
            <a:ext cx="5104500" cy="2524200"/>
          </a:xfrm>
          <a:prstGeom prst="rect">
            <a:avLst/>
          </a:prstGeom>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pt-BR" sz="1400">
                <a:latin typeface="Montserrat"/>
                <a:ea typeface="Montserrat"/>
                <a:cs typeface="Montserrat"/>
                <a:sym typeface="Montserrat"/>
              </a:rPr>
              <a:t>VirtualBox</a:t>
            </a:r>
            <a:endParaRPr b="1" sz="1400">
              <a:latin typeface="Montserrat"/>
              <a:ea typeface="Montserrat"/>
              <a:cs typeface="Montserrat"/>
              <a:sym typeface="Montserrat"/>
            </a:endParaRPr>
          </a:p>
          <a:p>
            <a:pPr indent="-304800" lvl="1" marL="914400" rtl="0" algn="l">
              <a:lnSpc>
                <a:spcPct val="100000"/>
              </a:lnSpc>
              <a:spcBef>
                <a:spcPts val="1200"/>
              </a:spcBef>
              <a:spcAft>
                <a:spcPts val="0"/>
              </a:spcAft>
              <a:buSzPts val="1200"/>
              <a:buFont typeface="Montserrat"/>
              <a:buChar char="○"/>
            </a:pPr>
            <a:r>
              <a:rPr lang="pt-BR" sz="1200">
                <a:latin typeface="Montserrat"/>
                <a:ea typeface="Montserrat"/>
                <a:cs typeface="Montserrat"/>
                <a:sym typeface="Montserrat"/>
              </a:rPr>
              <a:t>Gratuito e de código aberto</a:t>
            </a:r>
            <a:endParaRPr sz="1200">
              <a:latin typeface="Montserrat"/>
              <a:ea typeface="Montserrat"/>
              <a:cs typeface="Montserrat"/>
              <a:sym typeface="Montserrat"/>
            </a:endParaRPr>
          </a:p>
          <a:p>
            <a:pPr indent="-304800" lvl="1" marL="914400" rtl="0" algn="l">
              <a:lnSpc>
                <a:spcPct val="100000"/>
              </a:lnSpc>
              <a:spcBef>
                <a:spcPts val="0"/>
              </a:spcBef>
              <a:spcAft>
                <a:spcPts val="0"/>
              </a:spcAft>
              <a:buSzPts val="1200"/>
              <a:buFont typeface="Montserrat"/>
              <a:buChar char="○"/>
            </a:pPr>
            <a:r>
              <a:rPr lang="pt-BR" sz="1200">
                <a:latin typeface="Montserrat"/>
                <a:ea typeface="Montserrat"/>
                <a:cs typeface="Montserrat"/>
                <a:sym typeface="Montserrat"/>
              </a:rPr>
              <a:t>Suporta diversos sistemas operacionais convidados</a:t>
            </a:r>
            <a:endParaRPr sz="1200">
              <a:latin typeface="Montserrat"/>
              <a:ea typeface="Montserrat"/>
              <a:cs typeface="Montserrat"/>
              <a:sym typeface="Montserrat"/>
            </a:endParaRPr>
          </a:p>
          <a:p>
            <a:pPr indent="-304800" lvl="1" marL="914400" rtl="0" algn="l">
              <a:lnSpc>
                <a:spcPct val="100000"/>
              </a:lnSpc>
              <a:spcBef>
                <a:spcPts val="0"/>
              </a:spcBef>
              <a:spcAft>
                <a:spcPts val="0"/>
              </a:spcAft>
              <a:buSzPts val="1200"/>
              <a:buFont typeface="Montserrat"/>
              <a:buChar char="○"/>
            </a:pPr>
            <a:r>
              <a:rPr lang="pt-BR" sz="1200">
                <a:latin typeface="Montserrat"/>
                <a:ea typeface="Montserrat"/>
                <a:cs typeface="Montserrat"/>
                <a:sym typeface="Montserrat"/>
              </a:rPr>
              <a:t>Interface amigável para iniciantes</a:t>
            </a:r>
            <a:endParaRPr sz="1200">
              <a:latin typeface="Montserrat"/>
              <a:ea typeface="Montserrat"/>
              <a:cs typeface="Montserrat"/>
              <a:sym typeface="Montserrat"/>
            </a:endParaRPr>
          </a:p>
          <a:p>
            <a:pPr indent="0" lvl="0" marL="0" rtl="0" algn="l">
              <a:lnSpc>
                <a:spcPct val="100000"/>
              </a:lnSpc>
              <a:spcBef>
                <a:spcPts val="1200"/>
              </a:spcBef>
              <a:spcAft>
                <a:spcPts val="0"/>
              </a:spcAft>
              <a:buNone/>
            </a:pPr>
            <a:r>
              <a:t/>
            </a:r>
            <a:endParaRPr sz="1200">
              <a:latin typeface="Montserrat"/>
              <a:ea typeface="Montserrat"/>
              <a:cs typeface="Montserrat"/>
              <a:sym typeface="Montserrat"/>
            </a:endParaRPr>
          </a:p>
          <a:p>
            <a:pPr indent="-304800" lvl="0" marL="457200" rtl="0" algn="l">
              <a:lnSpc>
                <a:spcPct val="100000"/>
              </a:lnSpc>
              <a:spcBef>
                <a:spcPts val="1200"/>
              </a:spcBef>
              <a:spcAft>
                <a:spcPts val="0"/>
              </a:spcAft>
              <a:buSzPts val="1200"/>
              <a:buFont typeface="Montserrat"/>
              <a:buChar char="●"/>
            </a:pPr>
            <a:r>
              <a:rPr lang="pt-BR" sz="1200">
                <a:latin typeface="Montserrat"/>
                <a:ea typeface="Montserrat"/>
                <a:cs typeface="Montserrat"/>
                <a:sym typeface="Montserrat"/>
              </a:rPr>
              <a:t>Passos básicos:</a:t>
            </a:r>
            <a:endParaRPr sz="1200">
              <a:latin typeface="Montserrat"/>
              <a:ea typeface="Montserrat"/>
              <a:cs typeface="Montserrat"/>
              <a:sym typeface="Montserrat"/>
            </a:endParaRPr>
          </a:p>
          <a:p>
            <a:pPr indent="-304800" lvl="1" marL="914400" rtl="0" algn="l">
              <a:lnSpc>
                <a:spcPct val="100000"/>
              </a:lnSpc>
              <a:spcBef>
                <a:spcPts val="0"/>
              </a:spcBef>
              <a:spcAft>
                <a:spcPts val="0"/>
              </a:spcAft>
              <a:buSzPts val="1200"/>
              <a:buFont typeface="Montserrat"/>
              <a:buChar char="○"/>
            </a:pPr>
            <a:r>
              <a:rPr lang="pt-BR" sz="1200">
                <a:latin typeface="Montserrat"/>
                <a:ea typeface="Montserrat"/>
                <a:cs typeface="Montserrat"/>
                <a:sym typeface="Montserrat"/>
              </a:rPr>
              <a:t>Instalar o VirtualBox</a:t>
            </a:r>
            <a:endParaRPr sz="1200">
              <a:latin typeface="Montserrat"/>
              <a:ea typeface="Montserrat"/>
              <a:cs typeface="Montserrat"/>
              <a:sym typeface="Montserrat"/>
            </a:endParaRPr>
          </a:p>
          <a:p>
            <a:pPr indent="-304800" lvl="1" marL="914400" rtl="0" algn="l">
              <a:lnSpc>
                <a:spcPct val="100000"/>
              </a:lnSpc>
              <a:spcBef>
                <a:spcPts val="0"/>
              </a:spcBef>
              <a:spcAft>
                <a:spcPts val="0"/>
              </a:spcAft>
              <a:buSzPts val="1200"/>
              <a:buFont typeface="Montserrat"/>
              <a:buChar char="○"/>
            </a:pPr>
            <a:r>
              <a:rPr lang="pt-BR" sz="1200">
                <a:latin typeface="Montserrat"/>
                <a:ea typeface="Montserrat"/>
                <a:cs typeface="Montserrat"/>
                <a:sym typeface="Montserrat"/>
              </a:rPr>
              <a:t>Criar nova VM (escolher SO, memória, disco)</a:t>
            </a:r>
            <a:endParaRPr sz="1200">
              <a:latin typeface="Montserrat"/>
              <a:ea typeface="Montserrat"/>
              <a:cs typeface="Montserrat"/>
              <a:sym typeface="Montserrat"/>
            </a:endParaRPr>
          </a:p>
          <a:p>
            <a:pPr indent="-304800" lvl="1" marL="914400" rtl="0" algn="l">
              <a:lnSpc>
                <a:spcPct val="100000"/>
              </a:lnSpc>
              <a:spcBef>
                <a:spcPts val="0"/>
              </a:spcBef>
              <a:spcAft>
                <a:spcPts val="0"/>
              </a:spcAft>
              <a:buSzPts val="1200"/>
              <a:buFont typeface="Montserrat"/>
              <a:buChar char="○"/>
            </a:pPr>
            <a:r>
              <a:rPr lang="pt-BR" sz="1200">
                <a:latin typeface="Montserrat"/>
                <a:ea typeface="Montserrat"/>
                <a:cs typeface="Montserrat"/>
                <a:sym typeface="Montserrat"/>
              </a:rPr>
              <a:t>Montar ISO do sistema operacional</a:t>
            </a:r>
            <a:endParaRPr sz="1200">
              <a:latin typeface="Montserrat"/>
              <a:ea typeface="Montserrat"/>
              <a:cs typeface="Montserrat"/>
              <a:sym typeface="Montserrat"/>
            </a:endParaRPr>
          </a:p>
          <a:p>
            <a:pPr indent="-304800" lvl="1" marL="914400" rtl="0" algn="l">
              <a:lnSpc>
                <a:spcPct val="100000"/>
              </a:lnSpc>
              <a:spcBef>
                <a:spcPts val="0"/>
              </a:spcBef>
              <a:spcAft>
                <a:spcPts val="0"/>
              </a:spcAft>
              <a:buSzPts val="1200"/>
              <a:buFont typeface="Montserrat"/>
              <a:buChar char="○"/>
            </a:pPr>
            <a:r>
              <a:rPr lang="pt-BR" sz="1200">
                <a:latin typeface="Montserrat"/>
                <a:ea typeface="Montserrat"/>
                <a:cs typeface="Montserrat"/>
                <a:sym typeface="Montserrat"/>
              </a:rPr>
              <a:t>Iniciar e instalar o SO na VM</a:t>
            </a:r>
            <a:endParaRPr sz="1200">
              <a:latin typeface="Montserrat"/>
              <a:ea typeface="Montserrat"/>
              <a:cs typeface="Montserrat"/>
              <a:sym typeface="Montserrat"/>
            </a:endParaRPr>
          </a:p>
        </p:txBody>
      </p:sp>
      <p:sp>
        <p:nvSpPr>
          <p:cNvPr id="155" name="Google Shape;155;p16"/>
          <p:cNvSpPr txBox="1"/>
          <p:nvPr>
            <p:ph type="title"/>
          </p:nvPr>
        </p:nvSpPr>
        <p:spPr>
          <a:xfrm>
            <a:off x="1165950" y="61075"/>
            <a:ext cx="7254000" cy="584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pt-BR"/>
              <a:t>Virtualização - Máquina Virtual - VirtualBox app</a:t>
            </a:r>
            <a:endParaRPr/>
          </a:p>
        </p:txBody>
      </p:sp>
      <p:pic>
        <p:nvPicPr>
          <p:cNvPr id="156" name="Google Shape;156;p16"/>
          <p:cNvPicPr preferRelativeResize="0"/>
          <p:nvPr/>
        </p:nvPicPr>
        <p:blipFill>
          <a:blip r:embed="rId3">
            <a:alphaModFix/>
          </a:blip>
          <a:stretch>
            <a:fillRect/>
          </a:stretch>
        </p:blipFill>
        <p:spPr>
          <a:xfrm>
            <a:off x="4512975" y="2180625"/>
            <a:ext cx="4572000" cy="268318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txBox="1"/>
          <p:nvPr>
            <p:ph idx="1" type="body"/>
          </p:nvPr>
        </p:nvSpPr>
        <p:spPr>
          <a:xfrm>
            <a:off x="1618300" y="691575"/>
            <a:ext cx="7038900" cy="17238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pt-BR" sz="1400">
                <a:latin typeface="Montserrat"/>
                <a:ea typeface="Montserrat"/>
                <a:cs typeface="Montserrat"/>
                <a:sym typeface="Montserrat"/>
              </a:rPr>
              <a:t>Educação</a:t>
            </a:r>
            <a:r>
              <a:rPr lang="pt-BR" sz="1400">
                <a:latin typeface="Montserrat"/>
                <a:ea typeface="Montserrat"/>
                <a:cs typeface="Montserrat"/>
                <a:sym typeface="Montserrat"/>
              </a:rPr>
              <a:t>: simulação de ambientes diversos sem necessidade de múltiplos computadores</a:t>
            </a:r>
            <a:endParaRPr sz="1400">
              <a:latin typeface="Montserrat"/>
              <a:ea typeface="Montserrat"/>
              <a:cs typeface="Montserrat"/>
              <a:sym typeface="Montserrat"/>
            </a:endParaRPr>
          </a:p>
          <a:p>
            <a:pPr indent="0" lvl="0" marL="0" rtl="0" algn="l">
              <a:lnSpc>
                <a:spcPct val="100000"/>
              </a:lnSpc>
              <a:spcBef>
                <a:spcPts val="1200"/>
              </a:spcBef>
              <a:spcAft>
                <a:spcPts val="0"/>
              </a:spcAft>
              <a:buNone/>
            </a:pPr>
            <a:r>
              <a:rPr b="1" lang="pt-BR" sz="1400">
                <a:latin typeface="Montserrat"/>
                <a:ea typeface="Montserrat"/>
                <a:cs typeface="Montserrat"/>
                <a:sym typeface="Montserrat"/>
              </a:rPr>
              <a:t>Desenvolvimento</a:t>
            </a:r>
            <a:r>
              <a:rPr lang="pt-BR" sz="1400">
                <a:latin typeface="Montserrat"/>
                <a:ea typeface="Montserrat"/>
                <a:cs typeface="Montserrat"/>
                <a:sym typeface="Montserrat"/>
              </a:rPr>
              <a:t>: testes em diferentes sistemas operacionais</a:t>
            </a:r>
            <a:endParaRPr sz="1400">
              <a:latin typeface="Montserrat"/>
              <a:ea typeface="Montserrat"/>
              <a:cs typeface="Montserrat"/>
              <a:sym typeface="Montserrat"/>
            </a:endParaRPr>
          </a:p>
          <a:p>
            <a:pPr indent="0" lvl="0" marL="0" rtl="0" algn="l">
              <a:lnSpc>
                <a:spcPct val="100000"/>
              </a:lnSpc>
              <a:spcBef>
                <a:spcPts val="1200"/>
              </a:spcBef>
              <a:spcAft>
                <a:spcPts val="0"/>
              </a:spcAft>
              <a:buNone/>
            </a:pPr>
            <a:r>
              <a:rPr b="1" lang="pt-BR" sz="1400">
                <a:latin typeface="Montserrat"/>
                <a:ea typeface="Montserrat"/>
                <a:cs typeface="Montserrat"/>
                <a:sym typeface="Montserrat"/>
              </a:rPr>
              <a:t>Infraestrutura de TI</a:t>
            </a:r>
            <a:r>
              <a:rPr lang="pt-BR" sz="1400">
                <a:latin typeface="Montserrat"/>
                <a:ea typeface="Montserrat"/>
                <a:cs typeface="Montserrat"/>
                <a:sym typeface="Montserrat"/>
              </a:rPr>
              <a:t>: servidores virtuais, ambientes de produção e testes</a:t>
            </a:r>
            <a:endParaRPr sz="1400">
              <a:latin typeface="Montserrat"/>
              <a:ea typeface="Montserrat"/>
              <a:cs typeface="Montserrat"/>
              <a:sym typeface="Montserrat"/>
            </a:endParaRPr>
          </a:p>
          <a:p>
            <a:pPr indent="0" lvl="0" marL="0" rtl="0" algn="l">
              <a:lnSpc>
                <a:spcPct val="100000"/>
              </a:lnSpc>
              <a:spcBef>
                <a:spcPts val="1200"/>
              </a:spcBef>
              <a:spcAft>
                <a:spcPts val="1200"/>
              </a:spcAft>
              <a:buNone/>
            </a:pPr>
            <a:r>
              <a:rPr b="1" lang="pt-BR" sz="1400">
                <a:latin typeface="Montserrat"/>
                <a:ea typeface="Montserrat"/>
                <a:cs typeface="Montserrat"/>
                <a:sym typeface="Montserrat"/>
              </a:rPr>
              <a:t>Segurança</a:t>
            </a:r>
            <a:r>
              <a:rPr lang="pt-BR" sz="1400">
                <a:latin typeface="Montserrat"/>
                <a:ea typeface="Montserrat"/>
                <a:cs typeface="Montserrat"/>
                <a:sym typeface="Montserrat"/>
              </a:rPr>
              <a:t>: análise de malware em ambientes isolados</a:t>
            </a:r>
            <a:endParaRPr sz="1400">
              <a:latin typeface="Montserrat"/>
              <a:ea typeface="Montserrat"/>
              <a:cs typeface="Montserrat"/>
              <a:sym typeface="Montserrat"/>
            </a:endParaRPr>
          </a:p>
        </p:txBody>
      </p:sp>
      <p:sp>
        <p:nvSpPr>
          <p:cNvPr id="162" name="Google Shape;162;p17"/>
          <p:cNvSpPr txBox="1"/>
          <p:nvPr>
            <p:ph type="title"/>
          </p:nvPr>
        </p:nvSpPr>
        <p:spPr>
          <a:xfrm>
            <a:off x="1165950" y="61075"/>
            <a:ext cx="7254000" cy="58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t-BR"/>
              <a:t>Máquina Virtual - Aplicações práticas</a:t>
            </a:r>
            <a:endParaRPr/>
          </a:p>
        </p:txBody>
      </p:sp>
      <p:sp>
        <p:nvSpPr>
          <p:cNvPr id="163" name="Google Shape;163;p17"/>
          <p:cNvSpPr txBox="1"/>
          <p:nvPr>
            <p:ph idx="1" type="body"/>
          </p:nvPr>
        </p:nvSpPr>
        <p:spPr>
          <a:xfrm>
            <a:off x="1618300" y="3075150"/>
            <a:ext cx="7038900" cy="19395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pt-BR" sz="1400">
                <a:latin typeface="Montserrat"/>
                <a:ea typeface="Montserrat"/>
                <a:cs typeface="Montserrat"/>
                <a:sym typeface="Montserrat"/>
              </a:rPr>
              <a:t>Isolamento</a:t>
            </a:r>
            <a:r>
              <a:rPr lang="pt-BR" sz="1400">
                <a:latin typeface="Montserrat"/>
                <a:ea typeface="Montserrat"/>
                <a:cs typeface="Montserrat"/>
                <a:sym typeface="Montserrat"/>
              </a:rPr>
              <a:t>: cada VM opera de forma independente, reduzindo riscos de contaminação cruzada</a:t>
            </a:r>
            <a:endParaRPr sz="1400">
              <a:latin typeface="Montserrat"/>
              <a:ea typeface="Montserrat"/>
              <a:cs typeface="Montserrat"/>
              <a:sym typeface="Montserrat"/>
            </a:endParaRPr>
          </a:p>
          <a:p>
            <a:pPr indent="0" lvl="0" marL="0" rtl="0" algn="l">
              <a:lnSpc>
                <a:spcPct val="100000"/>
              </a:lnSpc>
              <a:spcBef>
                <a:spcPts val="1200"/>
              </a:spcBef>
              <a:spcAft>
                <a:spcPts val="0"/>
              </a:spcAft>
              <a:buNone/>
            </a:pPr>
            <a:r>
              <a:rPr b="1" lang="pt-BR" sz="1400">
                <a:latin typeface="Montserrat"/>
                <a:ea typeface="Montserrat"/>
                <a:cs typeface="Montserrat"/>
                <a:sym typeface="Montserrat"/>
              </a:rPr>
              <a:t>Snapshots</a:t>
            </a:r>
            <a:r>
              <a:rPr lang="pt-BR" sz="1400">
                <a:latin typeface="Montserrat"/>
                <a:ea typeface="Montserrat"/>
                <a:cs typeface="Montserrat"/>
                <a:sym typeface="Montserrat"/>
              </a:rPr>
              <a:t>: permitem restaurar o estado anterior da VM em caso de falhas</a:t>
            </a:r>
            <a:endParaRPr sz="1400">
              <a:latin typeface="Montserrat"/>
              <a:ea typeface="Montserrat"/>
              <a:cs typeface="Montserrat"/>
              <a:sym typeface="Montserrat"/>
            </a:endParaRPr>
          </a:p>
          <a:p>
            <a:pPr indent="0" lvl="0" marL="0" rtl="0" algn="l">
              <a:lnSpc>
                <a:spcPct val="100000"/>
              </a:lnSpc>
              <a:spcBef>
                <a:spcPts val="1200"/>
              </a:spcBef>
              <a:spcAft>
                <a:spcPts val="0"/>
              </a:spcAft>
              <a:buNone/>
            </a:pPr>
            <a:r>
              <a:rPr b="1" lang="pt-BR" sz="1400">
                <a:latin typeface="Montserrat"/>
                <a:ea typeface="Montserrat"/>
                <a:cs typeface="Montserrat"/>
                <a:sym typeface="Montserrat"/>
              </a:rPr>
              <a:t>Atualizações</a:t>
            </a:r>
            <a:r>
              <a:rPr lang="pt-BR" sz="1400">
                <a:latin typeface="Montserrat"/>
                <a:ea typeface="Montserrat"/>
                <a:cs typeface="Montserrat"/>
                <a:sym typeface="Montserrat"/>
              </a:rPr>
              <a:t>: manter o hipervisor e os sistemas convidados atualizados</a:t>
            </a:r>
            <a:endParaRPr sz="1400">
              <a:latin typeface="Montserrat"/>
              <a:ea typeface="Montserrat"/>
              <a:cs typeface="Montserrat"/>
              <a:sym typeface="Montserrat"/>
            </a:endParaRPr>
          </a:p>
          <a:p>
            <a:pPr indent="0" lvl="0" marL="0" rtl="0" algn="l">
              <a:lnSpc>
                <a:spcPct val="100000"/>
              </a:lnSpc>
              <a:spcBef>
                <a:spcPts val="1200"/>
              </a:spcBef>
              <a:spcAft>
                <a:spcPts val="1200"/>
              </a:spcAft>
              <a:buNone/>
            </a:pPr>
            <a:r>
              <a:rPr b="1" lang="pt-BR" sz="1400">
                <a:latin typeface="Montserrat"/>
                <a:ea typeface="Montserrat"/>
                <a:cs typeface="Montserrat"/>
                <a:sym typeface="Montserrat"/>
              </a:rPr>
              <a:t>Rede virtual</a:t>
            </a:r>
            <a:r>
              <a:rPr lang="pt-BR" sz="1400">
                <a:latin typeface="Montserrat"/>
                <a:ea typeface="Montserrat"/>
                <a:cs typeface="Montserrat"/>
                <a:sym typeface="Montserrat"/>
              </a:rPr>
              <a:t>: configurar firewalls e segmentação para proteger o tráfego entre VMs</a:t>
            </a:r>
            <a:endParaRPr sz="1400">
              <a:latin typeface="Montserrat"/>
              <a:ea typeface="Montserrat"/>
              <a:cs typeface="Montserrat"/>
              <a:sym typeface="Montserrat"/>
            </a:endParaRPr>
          </a:p>
        </p:txBody>
      </p:sp>
      <p:sp>
        <p:nvSpPr>
          <p:cNvPr id="164" name="Google Shape;164;p17"/>
          <p:cNvSpPr txBox="1"/>
          <p:nvPr>
            <p:ph type="title"/>
          </p:nvPr>
        </p:nvSpPr>
        <p:spPr>
          <a:xfrm>
            <a:off x="1165950" y="2415375"/>
            <a:ext cx="7254000" cy="58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t-BR"/>
              <a:t>Máquina Virtual - Segurança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8"/>
          <p:cNvSpPr txBox="1"/>
          <p:nvPr>
            <p:ph type="title"/>
          </p:nvPr>
        </p:nvSpPr>
        <p:spPr>
          <a:xfrm>
            <a:off x="1165950" y="61075"/>
            <a:ext cx="7254000" cy="58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t-BR"/>
              <a:t>Máquina Virtual - Criando máquina virtual</a:t>
            </a:r>
            <a:endParaRPr/>
          </a:p>
        </p:txBody>
      </p:sp>
      <p:pic>
        <p:nvPicPr>
          <p:cNvPr id="170" name="Google Shape;170;p18"/>
          <p:cNvPicPr preferRelativeResize="0"/>
          <p:nvPr/>
        </p:nvPicPr>
        <p:blipFill>
          <a:blip r:embed="rId3">
            <a:alphaModFix/>
          </a:blip>
          <a:stretch>
            <a:fillRect/>
          </a:stretch>
        </p:blipFill>
        <p:spPr>
          <a:xfrm>
            <a:off x="2505311" y="645775"/>
            <a:ext cx="4133376" cy="2071724"/>
          </a:xfrm>
          <a:prstGeom prst="rect">
            <a:avLst/>
          </a:prstGeom>
          <a:noFill/>
          <a:ln>
            <a:noFill/>
          </a:ln>
        </p:spPr>
      </p:pic>
      <p:pic>
        <p:nvPicPr>
          <p:cNvPr id="171" name="Google Shape;171;p18"/>
          <p:cNvPicPr preferRelativeResize="0"/>
          <p:nvPr/>
        </p:nvPicPr>
        <p:blipFill>
          <a:blip r:embed="rId4">
            <a:alphaModFix/>
          </a:blip>
          <a:stretch>
            <a:fillRect/>
          </a:stretch>
        </p:blipFill>
        <p:spPr>
          <a:xfrm>
            <a:off x="2473625" y="2818249"/>
            <a:ext cx="4196729" cy="21212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9"/>
          <p:cNvSpPr txBox="1"/>
          <p:nvPr>
            <p:ph type="title"/>
          </p:nvPr>
        </p:nvSpPr>
        <p:spPr>
          <a:xfrm>
            <a:off x="1165950" y="61075"/>
            <a:ext cx="7254000" cy="58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t-BR"/>
              <a:t>Máquina Virtual - Instalando S.O</a:t>
            </a:r>
            <a:endParaRPr/>
          </a:p>
        </p:txBody>
      </p:sp>
      <p:pic>
        <p:nvPicPr>
          <p:cNvPr id="177" name="Google Shape;177;p19"/>
          <p:cNvPicPr preferRelativeResize="0"/>
          <p:nvPr/>
        </p:nvPicPr>
        <p:blipFill>
          <a:blip r:embed="rId3">
            <a:alphaModFix/>
          </a:blip>
          <a:stretch>
            <a:fillRect/>
          </a:stretch>
        </p:blipFill>
        <p:spPr>
          <a:xfrm>
            <a:off x="1165950" y="680100"/>
            <a:ext cx="7456248" cy="41929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0"/>
          <p:cNvSpPr txBox="1"/>
          <p:nvPr>
            <p:ph type="title"/>
          </p:nvPr>
        </p:nvSpPr>
        <p:spPr>
          <a:xfrm>
            <a:off x="1165950" y="61075"/>
            <a:ext cx="7254000" cy="58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t-BR"/>
              <a:t>Máquina Virtual - Instalando S.O</a:t>
            </a:r>
            <a:endParaRPr/>
          </a:p>
        </p:txBody>
      </p:sp>
      <p:pic>
        <p:nvPicPr>
          <p:cNvPr id="183" name="Google Shape;183;p20"/>
          <p:cNvPicPr preferRelativeResize="0"/>
          <p:nvPr/>
        </p:nvPicPr>
        <p:blipFill>
          <a:blip r:embed="rId3">
            <a:alphaModFix/>
          </a:blip>
          <a:stretch>
            <a:fillRect/>
          </a:stretch>
        </p:blipFill>
        <p:spPr>
          <a:xfrm>
            <a:off x="1061788" y="645775"/>
            <a:ext cx="7462315" cy="4192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type="title"/>
          </p:nvPr>
        </p:nvSpPr>
        <p:spPr>
          <a:xfrm>
            <a:off x="1165950" y="61075"/>
            <a:ext cx="7254000" cy="58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t-BR"/>
              <a:t>Máquina Virtual - Instalando S.O</a:t>
            </a:r>
            <a:endParaRPr/>
          </a:p>
        </p:txBody>
      </p:sp>
      <p:pic>
        <p:nvPicPr>
          <p:cNvPr id="189" name="Google Shape;189;p21"/>
          <p:cNvPicPr preferRelativeResize="0"/>
          <p:nvPr/>
        </p:nvPicPr>
        <p:blipFill>
          <a:blip r:embed="rId3">
            <a:alphaModFix/>
          </a:blip>
          <a:stretch>
            <a:fillRect/>
          </a:stretch>
        </p:blipFill>
        <p:spPr>
          <a:xfrm>
            <a:off x="1049825" y="645775"/>
            <a:ext cx="7486247" cy="41929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2"/>
          <p:cNvSpPr txBox="1"/>
          <p:nvPr>
            <p:ph type="title"/>
          </p:nvPr>
        </p:nvSpPr>
        <p:spPr>
          <a:xfrm>
            <a:off x="1165950" y="61075"/>
            <a:ext cx="7254000" cy="58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t-BR"/>
              <a:t>Máquina Virtual - Removendo Máquina</a:t>
            </a:r>
            <a:endParaRPr/>
          </a:p>
        </p:txBody>
      </p:sp>
      <p:pic>
        <p:nvPicPr>
          <p:cNvPr id="195" name="Google Shape;195;p22"/>
          <p:cNvPicPr preferRelativeResize="0"/>
          <p:nvPr/>
        </p:nvPicPr>
        <p:blipFill>
          <a:blip r:embed="rId3">
            <a:alphaModFix/>
          </a:blip>
          <a:stretch>
            <a:fillRect/>
          </a:stretch>
        </p:blipFill>
        <p:spPr>
          <a:xfrm>
            <a:off x="1044963" y="687500"/>
            <a:ext cx="7054065" cy="41929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