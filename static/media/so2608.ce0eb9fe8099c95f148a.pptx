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e0050ad6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e0050ad6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falar sobre eventos em plantas, graficos em tempo real, a importancia de se detectar uma falha em tempo real, enchimento de tanque em tempo real, análise em dados pós processo completo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7e0c21d1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77e0c21d1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falar sobre sistemas embarcados, citando o Metris por exemplo, muito otimizado mas limitado em questões de recursos (hardware no geral), uso de sensores de vibração, controle em tempo real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SCADA são sistemas que permitem monitoramento em tempo real de diversos computadores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7e0c21d1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7e0c21d1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7e0c21d16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77e0c21d16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montar no quadro um desenho de um sensor funcionando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77e0c21d1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77e0c21d1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montar no quadro um desenho de um sensor funcionando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7e0c21d1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7e0c21d1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montar no quadro um desenho de um sensor funcionando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Operacional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26/08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" type="body"/>
          </p:nvPr>
        </p:nvSpPr>
        <p:spPr>
          <a:xfrm>
            <a:off x="1267975" y="701050"/>
            <a:ext cx="7260900" cy="172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12"/>
              <a:t>Os sistemas operacionais industriais são responsáveis por gerenciar os recursos de hardware e software em ambientes de automação, garantindo que os processos ocorram de forma segura, eficiente e contínua. </a:t>
            </a:r>
            <a:endParaRPr sz="1312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12"/>
              <a:t>Eles são projetados para atender às exigências específicas da indústria, como alta confiabilidade, tempo de resposta rápido e integração com dispositivos físicos como sensores, atuadores e CLPs (Controladores Lógicos Programáveis).</a:t>
            </a:r>
            <a:endParaRPr sz="1312"/>
          </a:p>
        </p:txBody>
      </p:sp>
      <p:sp>
        <p:nvSpPr>
          <p:cNvPr id="141" name="Google Shape;141;p14"/>
          <p:cNvSpPr txBox="1"/>
          <p:nvPr>
            <p:ph type="title"/>
          </p:nvPr>
        </p:nvSpPr>
        <p:spPr>
          <a:xfrm>
            <a:off x="1267975" y="194500"/>
            <a:ext cx="7038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512">
                <a:latin typeface="Lato"/>
                <a:ea typeface="Lato"/>
                <a:cs typeface="Lato"/>
                <a:sym typeface="Lato"/>
              </a:rPr>
              <a:t>Fundamentos de Sistemas Operacionais Industriais</a:t>
            </a:r>
            <a:endParaRPr/>
          </a:p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267975" y="2344350"/>
            <a:ext cx="7038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512">
                <a:latin typeface="Lato"/>
                <a:ea typeface="Lato"/>
                <a:cs typeface="Lato"/>
                <a:sym typeface="Lato"/>
              </a:rPr>
              <a:t>Tipos de Sistemas Operacionais Industriais</a:t>
            </a:r>
            <a:endParaRPr/>
          </a:p>
        </p:txBody>
      </p:sp>
      <p:sp>
        <p:nvSpPr>
          <p:cNvPr id="143" name="Google Shape;143;p14"/>
          <p:cNvSpPr txBox="1"/>
          <p:nvPr>
            <p:ph idx="1" type="body"/>
          </p:nvPr>
        </p:nvSpPr>
        <p:spPr>
          <a:xfrm>
            <a:off x="1267975" y="2993500"/>
            <a:ext cx="7260900" cy="13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12"/>
              <a:t>Tempo Real (RTOS - Real-Time Operating System):</a:t>
            </a:r>
            <a:endParaRPr b="1" sz="1312"/>
          </a:p>
          <a:p>
            <a:pPr indent="-31194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Projetado para responder a eventos em tempo determinado.</a:t>
            </a:r>
            <a:endParaRPr sz="1312"/>
          </a:p>
          <a:p>
            <a:pPr indent="-3119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Usado em aplicações críticas como controle de robôs, linhas de produção e sistemas de segurança.</a:t>
            </a:r>
            <a:endParaRPr sz="1312"/>
          </a:p>
          <a:p>
            <a:pPr indent="-3119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Exemplo: VxWorks, FreeRTOS.</a:t>
            </a:r>
            <a:endParaRPr sz="1312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405600" y="245750"/>
            <a:ext cx="7260900" cy="12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12"/>
              <a:t>Embarcados:</a:t>
            </a:r>
            <a:endParaRPr b="1" sz="1312"/>
          </a:p>
          <a:p>
            <a:pPr indent="-31194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Integrados diretamente em dispositivos específicos.</a:t>
            </a:r>
            <a:endParaRPr sz="1312"/>
          </a:p>
          <a:p>
            <a:pPr indent="-3119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Operam com recursos limitados e são altamente otimizados.</a:t>
            </a:r>
            <a:endParaRPr sz="1312"/>
          </a:p>
          <a:p>
            <a:pPr indent="-3119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Comuns em sensores inteligentes, controladores de temperatura, etc.</a:t>
            </a:r>
            <a:endParaRPr sz="1312"/>
          </a:p>
        </p:txBody>
      </p:sp>
      <p:sp>
        <p:nvSpPr>
          <p:cNvPr id="149" name="Google Shape;149;p15"/>
          <p:cNvSpPr txBox="1"/>
          <p:nvPr>
            <p:ph idx="1" type="body"/>
          </p:nvPr>
        </p:nvSpPr>
        <p:spPr>
          <a:xfrm>
            <a:off x="1405600" y="1711700"/>
            <a:ext cx="7260900" cy="12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12"/>
              <a:t>Distribuídos:</a:t>
            </a:r>
            <a:endParaRPr b="1" sz="1312"/>
          </a:p>
          <a:p>
            <a:pPr indent="-31194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Sistemas que operam em múltiplos computadores interconectados.</a:t>
            </a:r>
            <a:endParaRPr sz="1312"/>
          </a:p>
          <a:p>
            <a:pPr indent="-3119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Permitem o compartilhamento de recursos e dados entre diferentes unidades industriais.</a:t>
            </a:r>
            <a:endParaRPr sz="1312"/>
          </a:p>
          <a:p>
            <a:pPr indent="-3119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Exemplo: sistemas SCADA distribuídos.</a:t>
            </a:r>
            <a:endParaRPr sz="1312"/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00" y="3104000"/>
            <a:ext cx="3195106" cy="191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373825" y="1040725"/>
            <a:ext cx="7260900" cy="36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12"/>
              <a:t>Gerenciamento de Processos:</a:t>
            </a:r>
            <a:endParaRPr b="1" sz="1312"/>
          </a:p>
          <a:p>
            <a:pPr indent="-31194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Coordena a execução de tarefas e processos simultâneos.</a:t>
            </a:r>
            <a:endParaRPr sz="1312"/>
          </a:p>
          <a:p>
            <a:pPr indent="-3119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Garante que cada processo tenha acesso justo aos recursos.</a:t>
            </a:r>
            <a:endParaRPr sz="13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12"/>
              <a:t>Gerenciamento de Memória:</a:t>
            </a:r>
            <a:endParaRPr b="1" sz="1312"/>
          </a:p>
          <a:p>
            <a:pPr indent="-31194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Controla o uso da memória RAM.</a:t>
            </a:r>
            <a:endParaRPr sz="1312"/>
          </a:p>
          <a:p>
            <a:pPr indent="-3119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Aloca e libera memória conforme necessário para os processos.</a:t>
            </a:r>
            <a:endParaRPr sz="13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12"/>
              <a:t>Entrada/Saída (E/S):</a:t>
            </a:r>
            <a:endParaRPr b="1" sz="1312"/>
          </a:p>
          <a:p>
            <a:pPr indent="-31194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Gerencia a comunicação entre o sistema e os dispositivos periféricos.</a:t>
            </a:r>
            <a:endParaRPr sz="1312"/>
          </a:p>
          <a:p>
            <a:pPr indent="-3119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Inclui leitura de sensores e envio de comandos para atuadores.</a:t>
            </a:r>
            <a:endParaRPr sz="131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12"/>
              <a:t>Gerenciamento de Arquivos:</a:t>
            </a:r>
            <a:endParaRPr b="1" sz="1312"/>
          </a:p>
          <a:p>
            <a:pPr indent="-31194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Organiza e controla o acesso aos dados armazenados.</a:t>
            </a:r>
            <a:endParaRPr sz="1312"/>
          </a:p>
          <a:p>
            <a:pPr indent="-31194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13"/>
              <a:buAutoNum type="arabicPeriod"/>
            </a:pPr>
            <a:r>
              <a:rPr lang="pt-BR" sz="1312"/>
              <a:t>Essencial para registrar logs de produção, parâmetros de operação e diagnósticos.</a:t>
            </a:r>
            <a:endParaRPr sz="1312"/>
          </a:p>
        </p:txBody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1267975" y="194500"/>
            <a:ext cx="7038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512">
                <a:latin typeface="Lato"/>
                <a:ea typeface="Lato"/>
                <a:cs typeface="Lato"/>
                <a:sym typeface="Lato"/>
              </a:rPr>
              <a:t>Funções Principais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idx="1" type="body"/>
          </p:nvPr>
        </p:nvSpPr>
        <p:spPr>
          <a:xfrm>
            <a:off x="1373825" y="802225"/>
            <a:ext cx="7260900" cy="15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12"/>
              <a:t>A interface entre o sistema operacional e os dispositivos físicos é feita por meio de protocolos industriais (como Modbus, Profibus, Ethernet/IP) e drivers específicos. O sistema operacional interpreta os sinais dos sensores, processa as informações e envia comandos para os atuadores e CLPs, que executam ações no ambiente físico. </a:t>
            </a:r>
            <a:endParaRPr sz="1312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12"/>
              <a:t>Essa comunicação precisa ser rápida, confiável e segura para garantir o funcionamento adequado da planta industrial.</a:t>
            </a:r>
            <a:endParaRPr sz="1312"/>
          </a:p>
        </p:txBody>
      </p:sp>
      <p:sp>
        <p:nvSpPr>
          <p:cNvPr id="162" name="Google Shape;162;p17"/>
          <p:cNvSpPr txBox="1"/>
          <p:nvPr>
            <p:ph type="title"/>
          </p:nvPr>
        </p:nvSpPr>
        <p:spPr>
          <a:xfrm>
            <a:off x="1267975" y="194500"/>
            <a:ext cx="7038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312">
                <a:latin typeface="Lato"/>
                <a:ea typeface="Lato"/>
                <a:cs typeface="Lato"/>
                <a:sym typeface="Lato"/>
              </a:rPr>
              <a:t>Interface com Sensores, Atuadores e CLPs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7850" y="2486050"/>
            <a:ext cx="3221453" cy="2505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>
            <p:ph type="title"/>
          </p:nvPr>
        </p:nvSpPr>
        <p:spPr>
          <a:xfrm>
            <a:off x="903625" y="3105450"/>
            <a:ext cx="35640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312">
                <a:latin typeface="Lato"/>
                <a:ea typeface="Lato"/>
                <a:cs typeface="Lato"/>
                <a:sym typeface="Lato"/>
              </a:rPr>
              <a:t>Sensor de temperatura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373825" y="802225"/>
            <a:ext cx="7260900" cy="18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12"/>
              <a:t>Tipo de sistema operacional: Tempo Real (RTOS)</a:t>
            </a:r>
            <a:endParaRPr sz="1312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12"/>
              <a:t>Essa aplicação envolve robôs industriais que executam tarefas como soldagem, montagem de peças, pintura ou embalagem. </a:t>
            </a:r>
            <a:endParaRPr sz="1312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12"/>
              <a:t>Esses robôs precisam tomar decisões e agir em frações de segundo, com precisão milimétrica. Um sistema operacional de tempo real garante que os comandos sejam processados dentro de prazos rigorosos, sem atrasos que possam comprometer a segurança ou a qualidade da produção.</a:t>
            </a:r>
            <a:endParaRPr sz="1312"/>
          </a:p>
        </p:txBody>
      </p:sp>
      <p:sp>
        <p:nvSpPr>
          <p:cNvPr id="170" name="Google Shape;170;p18"/>
          <p:cNvSpPr txBox="1"/>
          <p:nvPr>
            <p:ph type="title"/>
          </p:nvPr>
        </p:nvSpPr>
        <p:spPr>
          <a:xfrm>
            <a:off x="1267975" y="194500"/>
            <a:ext cx="7038900" cy="4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pt-BR" sz="1312">
                <a:latin typeface="Lato"/>
                <a:ea typeface="Lato"/>
                <a:cs typeface="Lato"/>
                <a:sym typeface="Lato"/>
              </a:rPr>
              <a:t>Tipos de aplicações industriais - Atividades</a:t>
            </a:r>
            <a:endParaRPr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1510325" y="2830775"/>
            <a:ext cx="7260900" cy="18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12"/>
              <a:t>Tipo de sistema operacional: Embarcado</a:t>
            </a:r>
            <a:endParaRPr sz="1312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12"/>
              <a:t>Sensores embarcados são dispositivos autônomos que monitoram variáveis físicas como temperatura, pressão ou nível de líquido. Eles operam com sistemas operacionais leves, integrados diretamente ao hardware, e são projetados para realizar tarefas específicas com alta confiabilidade e baixo consumo de energia.</a:t>
            </a:r>
            <a:endParaRPr sz="1312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365875" y="229850"/>
            <a:ext cx="7260900" cy="15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12"/>
              <a:t>Tipo de sistema operacional: Distribuído</a:t>
            </a:r>
            <a:endParaRPr sz="1312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12"/>
              <a:t>SCADA (Supervisory Control and Data Acquisition) é um sistema que permite monitorar e controlar processos industriais à distância. Ele coleta dados de diversos dispositivos espalhados pela planta (sensores, CLPs, atuadores) e os apresenta em tempo real para operadores. Como envolve múltiplos computadores e redes, o sistema operacional distribuído é ideal para gerenciar essa complexidade.</a:t>
            </a:r>
            <a:endParaRPr sz="1312"/>
          </a:p>
        </p:txBody>
      </p:sp>
      <p:sp>
        <p:nvSpPr>
          <p:cNvPr id="177" name="Google Shape;177;p19"/>
          <p:cNvSpPr txBox="1"/>
          <p:nvPr>
            <p:ph idx="1" type="body"/>
          </p:nvPr>
        </p:nvSpPr>
        <p:spPr>
          <a:xfrm>
            <a:off x="1365875" y="1780850"/>
            <a:ext cx="7260900" cy="9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12"/>
              <a:t>Atividade</a:t>
            </a:r>
            <a:endParaRPr sz="1312"/>
          </a:p>
          <a:p>
            <a:pPr indent="45720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12"/>
              <a:t>Liste três exemplos de aplicações industriais e associe cada uma ao tipo de sistema operacional mais adequado (</a:t>
            </a:r>
            <a:r>
              <a:rPr b="1" lang="pt-BR" sz="1312"/>
              <a:t>tempo real, embarcado ou distribuído</a:t>
            </a:r>
            <a:r>
              <a:rPr lang="pt-BR" sz="1312"/>
              <a:t>).</a:t>
            </a:r>
            <a:endParaRPr sz="1312"/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575" y="2894450"/>
            <a:ext cx="4676841" cy="21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