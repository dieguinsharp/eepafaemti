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Montserrat"/>
      <p:regular r:id="rId10"/>
      <p:bold r:id="rId11"/>
      <p:italic r:id="rId12"/>
      <p:boldItalic r:id="rId13"/>
    </p:embeddedFont>
    <p:embeddedFont>
      <p:font typeface="La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-bold.fntdata"/><Relationship Id="rId10" Type="http://schemas.openxmlformats.org/officeDocument/2006/relationships/font" Target="fonts/Montserrat-regular.fntdata"/><Relationship Id="rId13" Type="http://schemas.openxmlformats.org/officeDocument/2006/relationships/font" Target="fonts/Montserrat-boldItalic.fntdata"/><Relationship Id="rId12" Type="http://schemas.openxmlformats.org/officeDocument/2006/relationships/font" Target="fonts/Montserrat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ato-bold.fntdata"/><Relationship Id="rId14" Type="http://schemas.openxmlformats.org/officeDocument/2006/relationships/font" Target="fonts/Lato-regular.fntdata"/><Relationship Id="rId17" Type="http://schemas.openxmlformats.org/officeDocument/2006/relationships/font" Target="fonts/Lato-boldItalic.fntdata"/><Relationship Id="rId16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4e0050ad61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4e0050ad61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63bcea13c8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63bcea13c8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63bcea13c8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63bcea13c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Sistema Operacional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05/08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idx="1" type="body"/>
          </p:nvPr>
        </p:nvSpPr>
        <p:spPr>
          <a:xfrm>
            <a:off x="1489975" y="1273500"/>
            <a:ext cx="7038900" cy="259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464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13"/>
              <a:buAutoNum type="arabicPeriod"/>
            </a:pPr>
            <a:r>
              <a:rPr lang="pt-BR" sz="1512"/>
              <a:t>Fundamentos de Sistemas Operacionais Industriais</a:t>
            </a:r>
            <a:endParaRPr sz="1512"/>
          </a:p>
          <a:p>
            <a:pPr indent="-324643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13"/>
              <a:buAutoNum type="alphaLcPeriod"/>
            </a:pPr>
            <a:r>
              <a:rPr lang="pt-BR" sz="1512"/>
              <a:t>Tipos de sistemas operacionais (tempo real, embarcados, distribuídos)</a:t>
            </a:r>
            <a:endParaRPr sz="1512"/>
          </a:p>
          <a:p>
            <a:pPr indent="-324643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13"/>
              <a:buAutoNum type="alphaLcPeriod"/>
            </a:pPr>
            <a:r>
              <a:rPr lang="pt-BR" sz="1512"/>
              <a:t>Funções principais: gerenciamento de processos, memória, E/S e arquivos</a:t>
            </a:r>
            <a:endParaRPr sz="1512"/>
          </a:p>
          <a:p>
            <a:pPr indent="-324643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13"/>
              <a:buAutoNum type="alphaLcPeriod"/>
            </a:pPr>
            <a:r>
              <a:rPr lang="pt-BR" sz="1512"/>
              <a:t>Interface com sensores, atuadores e CLPs</a:t>
            </a:r>
            <a:endParaRPr sz="1512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12"/>
          </a:p>
          <a:p>
            <a:pPr indent="-324643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513"/>
              <a:buAutoNum type="arabicPeriod"/>
            </a:pPr>
            <a:r>
              <a:rPr lang="pt-BR" sz="1512"/>
              <a:t>Técnicas Comuns de Manutenção Preventiva</a:t>
            </a:r>
            <a:endParaRPr sz="1512"/>
          </a:p>
          <a:p>
            <a:pPr indent="-324643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13"/>
              <a:buAutoNum type="alphaLcPeriod"/>
            </a:pPr>
            <a:r>
              <a:rPr lang="pt-BR" sz="1512"/>
              <a:t>Inspeções periódicas e checklists</a:t>
            </a:r>
            <a:endParaRPr sz="1512"/>
          </a:p>
          <a:p>
            <a:pPr indent="-324643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13"/>
              <a:buAutoNum type="alphaLcPeriod"/>
            </a:pPr>
            <a:r>
              <a:rPr lang="pt-BR" sz="1512"/>
              <a:t>Reaperto, limpeza e substituição preventiva</a:t>
            </a:r>
            <a:endParaRPr sz="1512"/>
          </a:p>
          <a:p>
            <a:pPr indent="-324643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13"/>
              <a:buAutoNum type="alphaLcPeriod"/>
            </a:pPr>
            <a:r>
              <a:rPr lang="pt-BR" sz="1512"/>
              <a:t>Monitoramento por tempo, uso ou ciclos operacionais</a:t>
            </a:r>
            <a:endParaRPr sz="1512"/>
          </a:p>
          <a:p>
            <a:pPr indent="-324643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13"/>
              <a:buAutoNum type="alphaLcPeriod"/>
            </a:pPr>
            <a:r>
              <a:rPr lang="pt-BR" sz="1512"/>
              <a:t>Normas técnicas (ex: NBR 5462/94)</a:t>
            </a:r>
            <a:endParaRPr sz="1512"/>
          </a:p>
        </p:txBody>
      </p:sp>
      <p:sp>
        <p:nvSpPr>
          <p:cNvPr id="141" name="Google Shape;141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Conteúdos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idx="1" type="body"/>
          </p:nvPr>
        </p:nvSpPr>
        <p:spPr>
          <a:xfrm>
            <a:off x="1297500" y="1009450"/>
            <a:ext cx="7846500" cy="413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12"/>
              <a:t>Sistemas Operacionais Industriais são sistemas especializados que gerenciam recursos computacionais em ambientes industriais. Diferente dos sistemas operacionais convencionais (como Windows ou Linux), eles são projetados para:</a:t>
            </a:r>
            <a:endParaRPr sz="1512"/>
          </a:p>
          <a:p>
            <a:pPr indent="-324643" lvl="0" marL="9144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513"/>
              <a:buAutoNum type="arabicPeriod"/>
            </a:pPr>
            <a:r>
              <a:rPr lang="pt-BR" sz="1512"/>
              <a:t>Alta confiabilidade e disponibilidade</a:t>
            </a:r>
            <a:endParaRPr sz="1512"/>
          </a:p>
          <a:p>
            <a:pPr indent="-324643" lvl="0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13"/>
              <a:buAutoNum type="arabicPeriod"/>
            </a:pPr>
            <a:r>
              <a:rPr lang="pt-BR" sz="1512"/>
              <a:t>Tempo real (respostas rápidas e previsíveis)</a:t>
            </a:r>
            <a:endParaRPr sz="1512"/>
          </a:p>
          <a:p>
            <a:pPr indent="-324643" lvl="0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13"/>
              <a:buAutoNum type="arabicPeriod"/>
            </a:pPr>
            <a:r>
              <a:rPr lang="pt-BR" sz="1512"/>
              <a:t>Segurança e tolerância a falhas</a:t>
            </a:r>
            <a:endParaRPr sz="1512"/>
          </a:p>
          <a:p>
            <a:pPr indent="-324643" lvl="0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13"/>
              <a:buAutoNum type="arabicPeriod"/>
            </a:pPr>
            <a:r>
              <a:rPr lang="pt-BR" sz="1512"/>
              <a:t>Integração com sensores, atuadores e controladores</a:t>
            </a:r>
            <a:endParaRPr sz="1512"/>
          </a:p>
          <a:p>
            <a:pPr indent="45720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512"/>
              <a:t>Exemplos de Sistemas Operacionais Industriais:</a:t>
            </a:r>
            <a:endParaRPr sz="1512"/>
          </a:p>
          <a:p>
            <a:pPr indent="-324643" lvl="0" marL="9144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513"/>
              <a:buAutoNum type="arabicPeriod"/>
            </a:pPr>
            <a:r>
              <a:rPr lang="pt-BR" sz="1512"/>
              <a:t>SCADA (Supervisory Control and Data Acquisition): Usado para monitorar e controlar processos industriais remotamente.</a:t>
            </a:r>
            <a:endParaRPr sz="1512"/>
          </a:p>
          <a:p>
            <a:pPr indent="-324643" lvl="0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13"/>
              <a:buAutoNum type="arabicPeriod"/>
            </a:pPr>
            <a:r>
              <a:rPr lang="pt-BR" sz="1512"/>
              <a:t>RTOS (Real-Time Operating Systems): Como o VxWorks ou FreeRTOS, que operam em controladores embarcados.</a:t>
            </a:r>
            <a:endParaRPr sz="1512"/>
          </a:p>
          <a:p>
            <a:pPr indent="-324643" lvl="0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13"/>
              <a:buAutoNum type="arabicPeriod"/>
            </a:pPr>
            <a:r>
              <a:rPr lang="pt-BR" sz="1512"/>
              <a:t>PLC (Programmable Logic Controller): Embora não seja um sistema operacional completo, muitos PLCs usam sistemas embarcados para executar lógicas industriais.</a:t>
            </a:r>
            <a:endParaRPr sz="1512"/>
          </a:p>
        </p:txBody>
      </p:sp>
      <p:sp>
        <p:nvSpPr>
          <p:cNvPr id="147" name="Google Shape;147;p15"/>
          <p:cNvSpPr txBox="1"/>
          <p:nvPr>
            <p:ph type="title"/>
          </p:nvPr>
        </p:nvSpPr>
        <p:spPr>
          <a:xfrm>
            <a:off x="1297500" y="393750"/>
            <a:ext cx="7038900" cy="4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pt-BR" sz="1800">
                <a:latin typeface="Lato"/>
                <a:ea typeface="Lato"/>
                <a:cs typeface="Lato"/>
                <a:sym typeface="Lato"/>
              </a:rPr>
              <a:t>Fundamentos de Sistemas Operacionais Industriais</a:t>
            </a:r>
            <a:endParaRPr b="1"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297500" y="393750"/>
            <a:ext cx="7038900" cy="4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pt-BR" sz="1800">
                <a:latin typeface="Lato"/>
                <a:ea typeface="Lato"/>
                <a:cs typeface="Lato"/>
                <a:sym typeface="Lato"/>
              </a:rPr>
              <a:t>Fundamentos de Sistemas Operacionais Industriais</a:t>
            </a:r>
            <a:endParaRPr b="1" sz="1800"/>
          </a:p>
        </p:txBody>
      </p:sp>
      <p:pic>
        <p:nvPicPr>
          <p:cNvPr id="153" name="Google Shape;15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1213" y="1119050"/>
            <a:ext cx="5891475" cy="353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