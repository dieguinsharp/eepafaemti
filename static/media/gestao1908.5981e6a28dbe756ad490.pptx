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</p:sldIdLst>
  <p:sldSz cy="5143500" cx="9144000"/>
  <p:notesSz cx="6858000" cy="9144000"/>
  <p:embeddedFontLst>
    <p:embeddedFont>
      <p:font typeface="Montserrat"/>
      <p:regular r:id="rId11"/>
      <p:bold r:id="rId12"/>
      <p:italic r:id="rId13"/>
      <p:boldItalic r:id="rId14"/>
    </p:embeddedFont>
    <p:embeddedFont>
      <p:font typeface="Lato"/>
      <p:regular r:id="rId15"/>
      <p:bold r:id="rId16"/>
      <p:italic r:id="rId17"/>
      <p:boldItalic r:id="rId1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font" Target="fonts/Montserrat-regular.fntdata"/><Relationship Id="rId10" Type="http://schemas.openxmlformats.org/officeDocument/2006/relationships/slide" Target="slides/slide5.xml"/><Relationship Id="rId13" Type="http://schemas.openxmlformats.org/officeDocument/2006/relationships/font" Target="fonts/Montserrat-italic.fntdata"/><Relationship Id="rId12" Type="http://schemas.openxmlformats.org/officeDocument/2006/relationships/font" Target="fonts/Montserrat-bold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Lato-regular.fntdata"/><Relationship Id="rId14" Type="http://schemas.openxmlformats.org/officeDocument/2006/relationships/font" Target="fonts/Montserrat-boldItalic.fntdata"/><Relationship Id="rId17" Type="http://schemas.openxmlformats.org/officeDocument/2006/relationships/font" Target="fonts/Lato-italic.fntdata"/><Relationship Id="rId16" Type="http://schemas.openxmlformats.org/officeDocument/2006/relationships/font" Target="fonts/Lato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18" Type="http://schemas.openxmlformats.org/officeDocument/2006/relationships/font" Target="fonts/Lato-bold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4dfc41c98d_0_1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34dfc41c98d_0_1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647e63e96b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" name="Google Shape;146;g3647e63e96b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3647e63e96b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" name="Google Shape;153;g3647e63e96b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3647e63e96b_0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" name="Google Shape;161;g3647e63e96b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 rot="5400000">
            <a:off x="7500300" y="505"/>
            <a:ext cx="1643700" cy="1643700"/>
          </a:xfrm>
          <a:prstGeom prst="diagStripe">
            <a:avLst>
              <a:gd fmla="val 0" name="adj"/>
            </a:avLst>
          </a:prstGeom>
          <a:solidFill>
            <a:schemeClr val="lt1">
              <a:alpha val="303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0" y="490"/>
            <a:ext cx="5153705" cy="5134399"/>
            <a:chOff x="0" y="75"/>
            <a:chExt cx="5153705" cy="515295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455" y="-225"/>
              <a:ext cx="5152800" cy="51537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150" y="1145825"/>
              <a:ext cx="3996600" cy="3996900"/>
            </a:xfrm>
            <a:prstGeom prst="diagStripe">
              <a:avLst>
                <a:gd fmla="val 58774" name="adj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 rot="-5400000">
              <a:off x="1646" y="-75"/>
              <a:ext cx="2299800" cy="23001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 flipH="1">
              <a:off x="652821" y="590035"/>
              <a:ext cx="2300100" cy="2299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" name="Google Shape;16;p2"/>
          <p:cNvSpPr txBox="1"/>
          <p:nvPr>
            <p:ph type="ctrTitle"/>
          </p:nvPr>
        </p:nvSpPr>
        <p:spPr>
          <a:xfrm>
            <a:off x="3537150" y="1578400"/>
            <a:ext cx="5017500" cy="15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5083950" y="3924925"/>
            <a:ext cx="34707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18" name="Google Shape;18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oogle Shape;20;p3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21" name="Google Shape;21;p3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" name="Google Shape;22;p3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" name="Google Shape;23;p3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3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" name="Google Shape;25;p3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" name="Google Shape;26;p3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3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" name="Google Shape;28;p3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" name="Google Shape;29;p3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" name="Google Shape;30;p3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3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3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3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" name="Google Shape;34;p3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3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" name="Google Shape;36;p3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" name="Google Shape;37;p3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" name="Google Shape;38;p3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9" name="Google Shape;39;p3"/>
          <p:cNvSpPr txBox="1"/>
          <p:nvPr>
            <p:ph type="title"/>
          </p:nvPr>
        </p:nvSpPr>
        <p:spPr>
          <a:xfrm>
            <a:off x="823850" y="2053000"/>
            <a:ext cx="4587000" cy="11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0" name="Google Shape;40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Google Shape;42;p4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43" name="Google Shape;43;p4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4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" name="Google Shape;45;p4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6" name="Google Shape;46;p4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47" name="Google Shape;47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" name="Google Shape;49;p5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0" name="Google Shape;50;p5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p5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2" name="Google Shape;52;p5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53" name="Google Shape;53;p5"/>
          <p:cNvSpPr txBox="1"/>
          <p:nvPr>
            <p:ph idx="1" type="body"/>
          </p:nvPr>
        </p:nvSpPr>
        <p:spPr>
          <a:xfrm>
            <a:off x="1297500" y="1567550"/>
            <a:ext cx="34032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4" name="Google Shape;54;p5"/>
          <p:cNvSpPr txBox="1"/>
          <p:nvPr>
            <p:ph idx="2" type="body"/>
          </p:nvPr>
        </p:nvSpPr>
        <p:spPr>
          <a:xfrm>
            <a:off x="4933221" y="1567550"/>
            <a:ext cx="34032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5" name="Google Shape;55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" name="Google Shape;57;p6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8" name="Google Shape;58;p6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" name="Google Shape;59;p6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0" name="Google Shape;60;p6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1" name="Google Shape;61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" name="Google Shape;63;p7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64" name="Google Shape;64;p7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7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6" name="Google Shape;66;p7"/>
          <p:cNvSpPr txBox="1"/>
          <p:nvPr>
            <p:ph type="title"/>
          </p:nvPr>
        </p:nvSpPr>
        <p:spPr>
          <a:xfrm>
            <a:off x="1297500" y="393750"/>
            <a:ext cx="3798900" cy="149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7" name="Google Shape;67;p7"/>
          <p:cNvSpPr txBox="1"/>
          <p:nvPr>
            <p:ph idx="1" type="body"/>
          </p:nvPr>
        </p:nvSpPr>
        <p:spPr>
          <a:xfrm>
            <a:off x="1297500" y="1972550"/>
            <a:ext cx="3798900" cy="241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8" name="Google Shape;68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Google Shape;70;p8"/>
          <p:cNvGrpSpPr/>
          <p:nvPr/>
        </p:nvGrpSpPr>
        <p:grpSpPr>
          <a:xfrm>
            <a:off x="4406400" y="0"/>
            <a:ext cx="4737600" cy="5143500"/>
            <a:chOff x="4406400" y="0"/>
            <a:chExt cx="4737600" cy="5143500"/>
          </a:xfrm>
        </p:grpSpPr>
        <p:sp>
          <p:nvSpPr>
            <p:cNvPr id="71" name="Google Shape;71;p8"/>
            <p:cNvSpPr/>
            <p:nvPr/>
          </p:nvSpPr>
          <p:spPr>
            <a:xfrm rot="5400000">
              <a:off x="4407900" y="-1500"/>
              <a:ext cx="47346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" name="Google Shape;72;p8"/>
            <p:cNvSpPr/>
            <p:nvPr/>
          </p:nvSpPr>
          <p:spPr>
            <a:xfrm rot="5400000">
              <a:off x="4840825" y="6000"/>
              <a:ext cx="42987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" name="Google Shape;73;p8"/>
            <p:cNvSpPr/>
            <p:nvPr/>
          </p:nvSpPr>
          <p:spPr>
            <a:xfrm rot="-5400000">
              <a:off x="5618399" y="123664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" name="Google Shape;74;p8"/>
            <p:cNvSpPr/>
            <p:nvPr/>
          </p:nvSpPr>
          <p:spPr>
            <a:xfrm flipH="1">
              <a:off x="5849857" y="144407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" name="Google Shape;75;p8"/>
            <p:cNvSpPr/>
            <p:nvPr/>
          </p:nvSpPr>
          <p:spPr>
            <a:xfrm rot="-5400000">
              <a:off x="5987081" y="246974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8"/>
            <p:cNvSpPr/>
            <p:nvPr/>
          </p:nvSpPr>
          <p:spPr>
            <a:xfrm flipH="1">
              <a:off x="6222115" y="267717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" name="Google Shape;77;p8"/>
            <p:cNvSpPr/>
            <p:nvPr/>
          </p:nvSpPr>
          <p:spPr>
            <a:xfrm rot="-5400000">
              <a:off x="6675341" y="186224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" name="Google Shape;78;p8"/>
            <p:cNvSpPr/>
            <p:nvPr/>
          </p:nvSpPr>
          <p:spPr>
            <a:xfrm flipH="1">
              <a:off x="6908099" y="206968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" name="Google Shape;79;p8"/>
            <p:cNvSpPr/>
            <p:nvPr/>
          </p:nvSpPr>
          <p:spPr>
            <a:xfrm rot="-5400000">
              <a:off x="6861141" y="247808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" name="Google Shape;80;p8"/>
            <p:cNvSpPr/>
            <p:nvPr/>
          </p:nvSpPr>
          <p:spPr>
            <a:xfrm flipH="1">
              <a:off x="7965266" y="269319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" name="Google Shape;81;p8"/>
            <p:cNvSpPr/>
            <p:nvPr/>
          </p:nvSpPr>
          <p:spPr>
            <a:xfrm flipH="1">
              <a:off x="8145082" y="330903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" name="Google Shape;82;p8"/>
            <p:cNvSpPr/>
            <p:nvPr/>
          </p:nvSpPr>
          <p:spPr>
            <a:xfrm rot="-5400000">
              <a:off x="7047599" y="309534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" name="Google Shape;83;p8"/>
            <p:cNvSpPr/>
            <p:nvPr/>
          </p:nvSpPr>
          <p:spPr>
            <a:xfrm flipH="1">
              <a:off x="7276649" y="330278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" name="Google Shape;84;p8"/>
            <p:cNvSpPr/>
            <p:nvPr/>
          </p:nvSpPr>
          <p:spPr>
            <a:xfrm rot="-5400000">
              <a:off x="7227414" y="37111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" name="Google Shape;85;p8"/>
            <p:cNvSpPr/>
            <p:nvPr/>
          </p:nvSpPr>
          <p:spPr>
            <a:xfrm flipH="1">
              <a:off x="7462448" y="391862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" name="Google Shape;86;p8"/>
            <p:cNvSpPr/>
            <p:nvPr/>
          </p:nvSpPr>
          <p:spPr>
            <a:xfrm rot="-5400000">
              <a:off x="8102491" y="37188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8"/>
            <p:cNvSpPr/>
            <p:nvPr/>
          </p:nvSpPr>
          <p:spPr>
            <a:xfrm flipH="1">
              <a:off x="8334533" y="392629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" name="Google Shape;88;p8"/>
            <p:cNvSpPr/>
            <p:nvPr/>
          </p:nvSpPr>
          <p:spPr>
            <a:xfrm rot="-5400000">
              <a:off x="8288290" y="433470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9" name="Google Shape;89;p8"/>
          <p:cNvSpPr txBox="1"/>
          <p:nvPr>
            <p:ph type="title"/>
          </p:nvPr>
        </p:nvSpPr>
        <p:spPr>
          <a:xfrm>
            <a:off x="823850" y="866775"/>
            <a:ext cx="4587000" cy="3521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0" name="Google Shape;90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" name="Google Shape;92;p9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93" name="Google Shape;93;p9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" name="Google Shape;94;p9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5" name="Google Shape;95;p9"/>
          <p:cNvSpPr txBox="1"/>
          <p:nvPr>
            <p:ph type="title"/>
          </p:nvPr>
        </p:nvSpPr>
        <p:spPr>
          <a:xfrm>
            <a:off x="1297500" y="1658325"/>
            <a:ext cx="3036300" cy="175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6" name="Google Shape;96;p9"/>
          <p:cNvSpPr txBox="1"/>
          <p:nvPr>
            <p:ph idx="1" type="subTitle"/>
          </p:nvPr>
        </p:nvSpPr>
        <p:spPr>
          <a:xfrm>
            <a:off x="1297500" y="3538000"/>
            <a:ext cx="30363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97" name="Google Shape;97;p9"/>
          <p:cNvSpPr txBox="1"/>
          <p:nvPr>
            <p:ph idx="2" type="body"/>
          </p:nvPr>
        </p:nvSpPr>
        <p:spPr>
          <a:xfrm>
            <a:off x="4648200" y="1696600"/>
            <a:ext cx="3676800" cy="234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8" name="Google Shape;98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" name="Google Shape;100;p10"/>
          <p:cNvGrpSpPr/>
          <p:nvPr/>
        </p:nvGrpSpPr>
        <p:grpSpPr>
          <a:xfrm>
            <a:off x="0" y="4128572"/>
            <a:ext cx="698925" cy="684657"/>
            <a:chOff x="0" y="3785672"/>
            <a:chExt cx="698925" cy="684657"/>
          </a:xfrm>
        </p:grpSpPr>
        <p:sp>
          <p:nvSpPr>
            <p:cNvPr id="101" name="Google Shape;101;p10"/>
            <p:cNvSpPr/>
            <p:nvPr/>
          </p:nvSpPr>
          <p:spPr>
            <a:xfrm rot="-5400000">
              <a:off x="0" y="3785672"/>
              <a:ext cx="544800" cy="544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" name="Google Shape;102;p10"/>
            <p:cNvSpPr/>
            <p:nvPr/>
          </p:nvSpPr>
          <p:spPr>
            <a:xfrm flipH="1">
              <a:off x="154125" y="3925529"/>
              <a:ext cx="544800" cy="544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3" name="Google Shape;103;p10"/>
          <p:cNvSpPr txBox="1"/>
          <p:nvPr>
            <p:ph idx="1" type="body"/>
          </p:nvPr>
        </p:nvSpPr>
        <p:spPr>
          <a:xfrm>
            <a:off x="812725" y="4305375"/>
            <a:ext cx="6936000" cy="52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104" name="Google Shape;104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" name="Google Shape;106;p11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107" name="Google Shape;107;p11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" name="Google Shape;108;p11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" name="Google Shape;109;p11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" name="Google Shape;110;p11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" name="Google Shape;111;p11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" name="Google Shape;112;p11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" name="Google Shape;113;p11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" name="Google Shape;114;p11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" name="Google Shape;115;p11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" name="Google Shape;116;p11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" name="Google Shape;117;p11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" name="Google Shape;118;p11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" name="Google Shape;119;p11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" name="Google Shape;120;p11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" name="Google Shape;121;p11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" name="Google Shape;122;p11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" name="Google Shape;123;p11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" name="Google Shape;124;p11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25" name="Google Shape;125;p11"/>
          <p:cNvSpPr txBox="1"/>
          <p:nvPr>
            <p:ph hasCustomPrompt="1" type="title"/>
          </p:nvPr>
        </p:nvSpPr>
        <p:spPr>
          <a:xfrm>
            <a:off x="823850" y="1284675"/>
            <a:ext cx="47760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1pPr>
            <a:lvl2pPr lvl="1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2pPr>
            <a:lvl3pPr lvl="2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3pPr>
            <a:lvl4pPr lvl="3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4pPr>
            <a:lvl5pPr lvl="4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5pPr>
            <a:lvl6pPr lvl="5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6pPr>
            <a:lvl7pPr lvl="6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7pPr>
            <a:lvl8pPr lvl="7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8pPr>
            <a:lvl9pPr lvl="8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9pPr>
          </a:lstStyle>
          <a:p>
            <a:r>
              <a:t>xx%</a:t>
            </a:r>
          </a:p>
        </p:txBody>
      </p:sp>
      <p:sp>
        <p:nvSpPr>
          <p:cNvPr id="126" name="Google Shape;126;p11"/>
          <p:cNvSpPr txBox="1"/>
          <p:nvPr>
            <p:ph idx="1" type="body"/>
          </p:nvPr>
        </p:nvSpPr>
        <p:spPr>
          <a:xfrm>
            <a:off x="823850" y="2643124"/>
            <a:ext cx="4776000" cy="121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27" name="Google Shape;12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focus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Lato"/>
              <a:buChar char="●"/>
              <a:defRPr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3"/>
          <p:cNvSpPr txBox="1"/>
          <p:nvPr>
            <p:ph type="ctrTitle"/>
          </p:nvPr>
        </p:nvSpPr>
        <p:spPr>
          <a:xfrm>
            <a:off x="3537150" y="1578400"/>
            <a:ext cx="5017500" cy="15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Gestão do Tempo</a:t>
            </a:r>
            <a:endParaRPr/>
          </a:p>
        </p:txBody>
      </p:sp>
      <p:sp>
        <p:nvSpPr>
          <p:cNvPr id="135" name="Google Shape;135;p13"/>
          <p:cNvSpPr txBox="1"/>
          <p:nvPr>
            <p:ph idx="1" type="subTitle"/>
          </p:nvPr>
        </p:nvSpPr>
        <p:spPr>
          <a:xfrm>
            <a:off x="5083950" y="3924925"/>
            <a:ext cx="34707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19/08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4"/>
          <p:cNvSpPr txBox="1"/>
          <p:nvPr>
            <p:ph type="title"/>
          </p:nvPr>
        </p:nvSpPr>
        <p:spPr>
          <a:xfrm>
            <a:off x="3098550" y="189025"/>
            <a:ext cx="2946900" cy="47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660"/>
              <a:t>Importância</a:t>
            </a:r>
            <a:r>
              <a:rPr b="1" lang="pt-BR" sz="1660"/>
              <a:t> vs Urgência</a:t>
            </a:r>
            <a:endParaRPr b="1" sz="1660"/>
          </a:p>
        </p:txBody>
      </p:sp>
      <p:sp>
        <p:nvSpPr>
          <p:cNvPr id="141" name="Google Shape;141;p14"/>
          <p:cNvSpPr txBox="1"/>
          <p:nvPr>
            <p:ph type="title"/>
          </p:nvPr>
        </p:nvSpPr>
        <p:spPr>
          <a:xfrm>
            <a:off x="1055275" y="664225"/>
            <a:ext cx="8088900" cy="106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/>
              <a:t>A distinção entre importância e urgência é essencial para uma boa gestão do tempo e produtividade. </a:t>
            </a:r>
            <a:endParaRPr sz="1200"/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/>
              <a:t>A matriz de Eisenhower, também conhecida como matriz urgente-importante, é uma ferramenta poderosa para tomar decisões com mais clareza e foco. Vamos destrinchar isso de forma prática e didática:</a:t>
            </a:r>
            <a:endParaRPr sz="1200"/>
          </a:p>
        </p:txBody>
      </p:sp>
      <p:sp>
        <p:nvSpPr>
          <p:cNvPr id="142" name="Google Shape;142;p14"/>
          <p:cNvSpPr txBox="1"/>
          <p:nvPr>
            <p:ph type="title"/>
          </p:nvPr>
        </p:nvSpPr>
        <p:spPr>
          <a:xfrm>
            <a:off x="15900" y="1623475"/>
            <a:ext cx="9112200" cy="123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45720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600"/>
              <a:t>Importância</a:t>
            </a:r>
            <a:endParaRPr b="1" sz="1600"/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-304800" lvl="0" marL="9144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pt-BR" sz="1200"/>
              <a:t>Relaciona-se aos resultados de longo prazo, valores, metas e propósito.</a:t>
            </a:r>
            <a:endParaRPr sz="1200"/>
          </a:p>
          <a:p>
            <a:pPr indent="-304800" lvl="0" marL="9144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pt-BR" sz="1200"/>
              <a:t>Tarefas importantes contribuem diretamente para seus objetivos.</a:t>
            </a:r>
            <a:endParaRPr sz="1200"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/>
              <a:t>Exemplo: estudar para uma prova importante, planejar um projeto, cuidar da saúde.</a:t>
            </a:r>
            <a:endParaRPr sz="1200"/>
          </a:p>
        </p:txBody>
      </p:sp>
      <p:sp>
        <p:nvSpPr>
          <p:cNvPr id="143" name="Google Shape;143;p14"/>
          <p:cNvSpPr txBox="1"/>
          <p:nvPr>
            <p:ph type="title"/>
          </p:nvPr>
        </p:nvSpPr>
        <p:spPr>
          <a:xfrm>
            <a:off x="15900" y="2993475"/>
            <a:ext cx="9190800" cy="181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45720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600"/>
              <a:t>Urgência</a:t>
            </a:r>
            <a:endParaRPr b="1" sz="1600"/>
          </a:p>
          <a:p>
            <a:pPr indent="45720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/>
          </a:p>
          <a:p>
            <a:pPr indent="-304800" lvl="0" marL="9144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pt-BR" sz="1200"/>
              <a:t>Relaciona-se ao tempo: algo que exige atenção imediata.</a:t>
            </a:r>
            <a:endParaRPr sz="1200"/>
          </a:p>
          <a:p>
            <a:pPr indent="-304800" lvl="0" marL="9144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pt-BR" sz="1200"/>
              <a:t>Pode gerar estresse e sensação de correria.</a:t>
            </a:r>
            <a:endParaRPr sz="1200"/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/>
              <a:t>Exemplo: atender uma ligação, responder um e-mail com prazo curto, resolver uma crise.</a:t>
            </a:r>
            <a:endParaRPr sz="1200"/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200"/>
              <a:t>Nem tudo que é urgente é importante — e nem tudo que é importante é urgente.</a:t>
            </a:r>
            <a:endParaRPr b="1" sz="12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15"/>
          <p:cNvSpPr txBox="1"/>
          <p:nvPr>
            <p:ph type="title"/>
          </p:nvPr>
        </p:nvSpPr>
        <p:spPr>
          <a:xfrm>
            <a:off x="2350800" y="189000"/>
            <a:ext cx="4442400" cy="47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660"/>
              <a:t>Matriz de Eisenhower: 4 Quadrantes</a:t>
            </a:r>
            <a:endParaRPr b="1" sz="1660"/>
          </a:p>
        </p:txBody>
      </p:sp>
      <p:sp>
        <p:nvSpPr>
          <p:cNvPr id="149" name="Google Shape;149;p15"/>
          <p:cNvSpPr txBox="1"/>
          <p:nvPr>
            <p:ph type="title"/>
          </p:nvPr>
        </p:nvSpPr>
        <p:spPr>
          <a:xfrm>
            <a:off x="1055275" y="664225"/>
            <a:ext cx="8088900" cy="36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/>
              <a:t>A matriz divide as tarefas em quatro categorias com base nesses dois critérios:</a:t>
            </a:r>
            <a:endParaRPr sz="1200"/>
          </a:p>
        </p:txBody>
      </p:sp>
      <p:pic>
        <p:nvPicPr>
          <p:cNvPr id="150" name="Google Shape;150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14438" y="1443875"/>
            <a:ext cx="6715125" cy="3190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16"/>
          <p:cNvSpPr txBox="1"/>
          <p:nvPr>
            <p:ph type="title"/>
          </p:nvPr>
        </p:nvSpPr>
        <p:spPr>
          <a:xfrm>
            <a:off x="0" y="189000"/>
            <a:ext cx="9144000" cy="47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660"/>
              <a:t>Como usar no dia a dia</a:t>
            </a:r>
            <a:endParaRPr b="1" sz="1660"/>
          </a:p>
        </p:txBody>
      </p:sp>
      <p:sp>
        <p:nvSpPr>
          <p:cNvPr id="156" name="Google Shape;156;p16"/>
          <p:cNvSpPr txBox="1"/>
          <p:nvPr>
            <p:ph type="title"/>
          </p:nvPr>
        </p:nvSpPr>
        <p:spPr>
          <a:xfrm>
            <a:off x="1055100" y="747100"/>
            <a:ext cx="8088900" cy="167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AutoNum type="arabicPeriod"/>
            </a:pPr>
            <a:r>
              <a:rPr lang="pt-BR" sz="1200"/>
              <a:t>Liste suas tarefas: tudo que você precisa fazer.</a:t>
            </a:r>
            <a:endParaRPr sz="1200"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AutoNum type="arabicPeriod"/>
            </a:pPr>
            <a:r>
              <a:rPr lang="pt-BR" sz="1200"/>
              <a:t>Classifique cada uma: urgente/importante.</a:t>
            </a:r>
            <a:endParaRPr sz="1200"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AutoNum type="arabicPeriod"/>
            </a:pPr>
            <a:r>
              <a:rPr lang="pt-BR" sz="1200"/>
              <a:t>Distribua na matriz: coloque cada tarefa no quadrante correspondente.</a:t>
            </a:r>
            <a:endParaRPr sz="1200"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AutoNum type="arabicPeriod"/>
            </a:pPr>
            <a:r>
              <a:rPr lang="pt-BR" sz="1200"/>
              <a:t>Aja com base na matriz:</a:t>
            </a:r>
            <a:endParaRPr sz="1200"/>
          </a:p>
          <a:p>
            <a:pPr indent="-304800" lvl="1" marL="1371600" rtl="0" algn="l"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pt-BR" sz="1200"/>
              <a:t>Priorize o quadrante 1.</a:t>
            </a:r>
            <a:endParaRPr sz="1200"/>
          </a:p>
          <a:p>
            <a:pPr indent="-304800" lvl="1" marL="1371600" rtl="0" algn="l"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pt-BR" sz="1200"/>
              <a:t>Invista tempo no quadrante 2 (é onde o crescimento acontece!).</a:t>
            </a:r>
            <a:endParaRPr sz="1200"/>
          </a:p>
          <a:p>
            <a:pPr indent="-304800" lvl="1" marL="1371600" rtl="0" algn="l"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pt-BR" sz="1200"/>
              <a:t>Delegue o que puder do quadrante 3.</a:t>
            </a:r>
            <a:endParaRPr sz="1200"/>
          </a:p>
          <a:p>
            <a:pPr indent="-304800" lvl="1" marL="1371600" rtl="0" algn="l"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pt-BR" sz="1200"/>
              <a:t>Corte sem dó o quadrante 4.</a:t>
            </a:r>
            <a:endParaRPr sz="1200"/>
          </a:p>
        </p:txBody>
      </p:sp>
      <p:sp>
        <p:nvSpPr>
          <p:cNvPr id="157" name="Google Shape;157;p16"/>
          <p:cNvSpPr txBox="1"/>
          <p:nvPr>
            <p:ph type="title"/>
          </p:nvPr>
        </p:nvSpPr>
        <p:spPr>
          <a:xfrm>
            <a:off x="0" y="2571750"/>
            <a:ext cx="9144000" cy="47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660"/>
              <a:t> Dica de ouro</a:t>
            </a:r>
            <a:endParaRPr b="1" sz="1660"/>
          </a:p>
        </p:txBody>
      </p:sp>
      <p:sp>
        <p:nvSpPr>
          <p:cNvPr id="158" name="Google Shape;158;p16"/>
          <p:cNvSpPr txBox="1"/>
          <p:nvPr>
            <p:ph type="title"/>
          </p:nvPr>
        </p:nvSpPr>
        <p:spPr>
          <a:xfrm>
            <a:off x="0" y="3150250"/>
            <a:ext cx="9144000" cy="71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/>
              <a:t>A chave para uma vida mais equilibrada está em reduzir o tempo no quadrante 1 (crises) e aumentar o tempo no quadrante 2 (planejamento e prevenção). Isso evita que tarefas importantes se tornem urgentes por falta de atenção.</a:t>
            </a:r>
            <a:endParaRPr sz="12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17"/>
          <p:cNvSpPr txBox="1"/>
          <p:nvPr>
            <p:ph type="title"/>
          </p:nvPr>
        </p:nvSpPr>
        <p:spPr>
          <a:xfrm>
            <a:off x="0" y="189000"/>
            <a:ext cx="9144000" cy="47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660"/>
              <a:t>Exercícios</a:t>
            </a:r>
            <a:endParaRPr b="1" sz="1660"/>
          </a:p>
        </p:txBody>
      </p:sp>
      <p:sp>
        <p:nvSpPr>
          <p:cNvPr id="164" name="Google Shape;164;p17"/>
          <p:cNvSpPr txBox="1"/>
          <p:nvPr>
            <p:ph type="title"/>
          </p:nvPr>
        </p:nvSpPr>
        <p:spPr>
          <a:xfrm>
            <a:off x="1055100" y="747100"/>
            <a:ext cx="8088900" cy="349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AutoNum type="arabicPeriod"/>
            </a:pPr>
            <a:r>
              <a:rPr lang="pt-BR" sz="1200"/>
              <a:t>Imagine que você tem uma tarefa que precisa ser entregue até amanhã e é crucial para o sucesso de um projeto importante.</a:t>
            </a:r>
            <a:endParaRPr sz="1200"/>
          </a:p>
          <a:p>
            <a:pPr indent="-304800" lvl="1" marL="1371600" rtl="0" algn="l"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pt-BR" sz="1200"/>
              <a:t>Pergunta: Em qual quadrante da matriz de Eisenhower essa tarefa se encaixa?</a:t>
            </a:r>
            <a:endParaRPr sz="1200"/>
          </a:p>
          <a:p>
            <a:pPr indent="0" lvl="0" marL="13716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AutoNum type="arabicPeriod"/>
            </a:pPr>
            <a:r>
              <a:rPr lang="pt-BR" sz="1200"/>
              <a:t>Você percebe que precisa planejar sua semana para evitar atrasos e crises futuras.</a:t>
            </a:r>
            <a:endParaRPr sz="1200"/>
          </a:p>
          <a:p>
            <a:pPr indent="-304800" lvl="1" marL="1371600" rtl="0" algn="l"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pt-BR" sz="1200"/>
              <a:t>Pergunta: Essa tarefa se encaixa em qual quadrante da matriz de Eisenhower?</a:t>
            </a:r>
            <a:endParaRPr sz="1200"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AutoNum type="arabicPeriod"/>
            </a:pPr>
            <a:r>
              <a:rPr lang="pt-BR" sz="1200"/>
              <a:t>Um colega pede sua ajuda para revisar um documento que não é relevante para suas responsabilidades principais, mas precisa ser feito rapidamente.</a:t>
            </a:r>
            <a:endParaRPr sz="1200"/>
          </a:p>
          <a:p>
            <a:pPr indent="-304800" lvl="1" marL="1371600" rtl="0" algn="l"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pt-BR" sz="1200"/>
              <a:t>Pergunta: Em qual quadrante essa tarefa se encaixa?</a:t>
            </a:r>
            <a:endParaRPr sz="1200"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AutoNum type="arabicPeriod"/>
            </a:pPr>
            <a:r>
              <a:rPr lang="pt-BR" sz="1200"/>
              <a:t>Você percebe que está gastando muito tempo navegando nas redes sociais sem propósito.</a:t>
            </a:r>
            <a:endParaRPr sz="1200"/>
          </a:p>
          <a:p>
            <a:pPr indent="-304800" lvl="1" marL="1371600" rtl="0" algn="l"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pt-BR" sz="1200"/>
              <a:t>Pergunta: Em qual quadrante essa atividade se encaixa?</a:t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AutoNum type="arabicPeriod"/>
            </a:pPr>
            <a:r>
              <a:rPr lang="pt-BR" sz="1200"/>
              <a:t>Você tem uma reunião semanal que não agrega valor ao seu trabalho, mas é obrigatória.</a:t>
            </a:r>
            <a:endParaRPr sz="1200"/>
          </a:p>
          <a:p>
            <a:pPr indent="-304800" lvl="1" marL="1371600" rtl="0" algn="l"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pt-BR" sz="1200"/>
              <a:t>Pergunta: Qual ação recomendada pela matriz de Eisenhower para lidar com essa tarefa?</a:t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Focus">
  <a:themeElements>
    <a:clrScheme name="Focus">
      <a:dk1>
        <a:srgbClr val="1B212C"/>
      </a:dk1>
      <a:lt1>
        <a:srgbClr val="FFFFFF"/>
      </a:lt1>
      <a:dk2>
        <a:srgbClr val="D9D9D9"/>
      </a:dk2>
      <a:lt2>
        <a:srgbClr val="82C7A5"/>
      </a:lt2>
      <a:accent1>
        <a:srgbClr val="0145AC"/>
      </a:accent1>
      <a:accent2>
        <a:srgbClr val="EECE1A"/>
      </a:accent2>
      <a:accent3>
        <a:srgbClr val="4E5567"/>
      </a:accent3>
      <a:accent4>
        <a:srgbClr val="F4D6AD"/>
      </a:accent4>
      <a:accent5>
        <a:srgbClr val="7890CD"/>
      </a:accent5>
      <a:accent6>
        <a:srgbClr val="F15E22"/>
      </a:accent6>
      <a:hlink>
        <a:srgbClr val="7890CD"/>
      </a:hlink>
      <a:folHlink>
        <a:srgbClr val="7890C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